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84" r:id="rId1"/>
  </p:sldMasterIdLst>
  <p:sldIdLst>
    <p:sldId id="339" r:id="rId2"/>
    <p:sldId id="256" r:id="rId3"/>
    <p:sldId id="258" r:id="rId4"/>
    <p:sldId id="257" r:id="rId5"/>
    <p:sldId id="259" r:id="rId6"/>
    <p:sldId id="338" r:id="rId7"/>
    <p:sldId id="269" r:id="rId8"/>
    <p:sldId id="261" r:id="rId9"/>
    <p:sldId id="266" r:id="rId10"/>
    <p:sldId id="260" r:id="rId11"/>
    <p:sldId id="263" r:id="rId12"/>
    <p:sldId id="262" r:id="rId13"/>
    <p:sldId id="289" r:id="rId14"/>
    <p:sldId id="265" r:id="rId15"/>
    <p:sldId id="264" r:id="rId16"/>
    <p:sldId id="267" r:id="rId17"/>
    <p:sldId id="268" r:id="rId18"/>
    <p:sldId id="270" r:id="rId19"/>
    <p:sldId id="271" r:id="rId20"/>
    <p:sldId id="340" r:id="rId21"/>
    <p:sldId id="272" r:id="rId22"/>
    <p:sldId id="281" r:id="rId23"/>
    <p:sldId id="273" r:id="rId24"/>
    <p:sldId id="274" r:id="rId25"/>
    <p:sldId id="276" r:id="rId26"/>
    <p:sldId id="275" r:id="rId27"/>
    <p:sldId id="277" r:id="rId28"/>
    <p:sldId id="282" r:id="rId29"/>
    <p:sldId id="337" r:id="rId30"/>
    <p:sldId id="287" r:id="rId31"/>
    <p:sldId id="342" r:id="rId32"/>
    <p:sldId id="280" r:id="rId33"/>
    <p:sldId id="279" r:id="rId34"/>
    <p:sldId id="341" r:id="rId35"/>
    <p:sldId id="285" r:id="rId36"/>
    <p:sldId id="283" r:id="rId37"/>
    <p:sldId id="343" r:id="rId38"/>
    <p:sldId id="284" r:id="rId39"/>
    <p:sldId id="344" r:id="rId40"/>
    <p:sldId id="288" r:id="rId41"/>
    <p:sldId id="290" r:id="rId42"/>
    <p:sldId id="292" r:id="rId43"/>
    <p:sldId id="291" r:id="rId44"/>
    <p:sldId id="345" r:id="rId45"/>
    <p:sldId id="293" r:id="rId46"/>
    <p:sldId id="294" r:id="rId47"/>
    <p:sldId id="295" r:id="rId48"/>
    <p:sldId id="296" r:id="rId49"/>
    <p:sldId id="299" r:id="rId50"/>
    <p:sldId id="300" r:id="rId51"/>
    <p:sldId id="301" r:id="rId52"/>
    <p:sldId id="302" r:id="rId53"/>
    <p:sldId id="297" r:id="rId54"/>
    <p:sldId id="346" r:id="rId55"/>
    <p:sldId id="347" r:id="rId56"/>
    <p:sldId id="348" r:id="rId57"/>
    <p:sldId id="298" r:id="rId58"/>
    <p:sldId id="303" r:id="rId59"/>
    <p:sldId id="304" r:id="rId60"/>
    <p:sldId id="305" r:id="rId61"/>
    <p:sldId id="306" r:id="rId62"/>
    <p:sldId id="307" r:id="rId63"/>
    <p:sldId id="308" r:id="rId64"/>
    <p:sldId id="309" r:id="rId65"/>
    <p:sldId id="311" r:id="rId66"/>
    <p:sldId id="349" r:id="rId67"/>
    <p:sldId id="319" r:id="rId68"/>
    <p:sldId id="313" r:id="rId69"/>
    <p:sldId id="350" r:id="rId70"/>
    <p:sldId id="314" r:id="rId71"/>
    <p:sldId id="315" r:id="rId72"/>
    <p:sldId id="317" r:id="rId73"/>
    <p:sldId id="318" r:id="rId74"/>
    <p:sldId id="316" r:id="rId75"/>
    <p:sldId id="321" r:id="rId76"/>
    <p:sldId id="322" r:id="rId77"/>
    <p:sldId id="324" r:id="rId78"/>
    <p:sldId id="336" r:id="rId79"/>
    <p:sldId id="326" r:id="rId80"/>
    <p:sldId id="325" r:id="rId81"/>
    <p:sldId id="327" r:id="rId82"/>
    <p:sldId id="328" r:id="rId83"/>
    <p:sldId id="329" r:id="rId84"/>
    <p:sldId id="330" r:id="rId85"/>
    <p:sldId id="331" r:id="rId86"/>
    <p:sldId id="351" r:id="rId87"/>
    <p:sldId id="332" r:id="rId88"/>
    <p:sldId id="333" r:id="rId89"/>
    <p:sldId id="334" r:id="rId90"/>
    <p:sldId id="335" r:id="rId91"/>
    <p:sldId id="353" r:id="rId92"/>
    <p:sldId id="352" r:id="rId93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2A834D-2AFF-892D-8AAD-A092B862685C}" v="11062" dt="2026-06-28T18:29:46.983"/>
    <p1510:client id="{ECA2AF77-3247-188C-8F01-858893CCAA41}" v="4490" dt="2026-06-27T14:13:44.3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264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934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803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98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46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665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795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986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147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46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288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Eigth level</a:t>
            </a:r>
          </a:p>
          <a:p>
            <a:pPr lvl="8"/>
            <a:r>
              <a:rPr lang="en-US"/>
              <a:t>Ninth level</a:t>
            </a:r>
          </a:p>
          <a:p>
            <a:pPr lvl="4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153168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85" r:id="rId1"/>
    <p:sldLayoutId id="2147484386" r:id="rId2"/>
    <p:sldLayoutId id="2147484387" r:id="rId3"/>
    <p:sldLayoutId id="2147484388" r:id="rId4"/>
    <p:sldLayoutId id="2147484389" r:id="rId5"/>
    <p:sldLayoutId id="2147484390" r:id="rId6"/>
    <p:sldLayoutId id="2147484391" r:id="rId7"/>
    <p:sldLayoutId id="2147484392" r:id="rId8"/>
    <p:sldLayoutId id="2147484393" r:id="rId9"/>
    <p:sldLayoutId id="2147484394" r:id="rId10"/>
    <p:sldLayoutId id="2147484395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aahguu/Blockchain-CTF-Basics-Workshop-Scripts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tfoundry.sh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://blockchain.redroomctf.au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545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ramtheblockchain.com/" TargetMode="External"/><Relationship Id="rId2" Type="http://schemas.openxmlformats.org/officeDocument/2006/relationships/hyperlink" Target="https://docs.soliditylang.org/en/v0.8.35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thernaut.openzeppelin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F8360-F1D8-86C2-3623-E5D81B98A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GitHub Link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2A948-D15D-212A-D824-A82542873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3371" y="1892459"/>
            <a:ext cx="8115854" cy="3997828"/>
          </a:xfrm>
        </p:spPr>
        <p:txBody>
          <a:bodyPr/>
          <a:lstStyle/>
          <a:p>
            <a:pPr marL="6350" indent="0">
              <a:buNone/>
            </a:pPr>
            <a:r>
              <a:rPr lang="en-GB">
                <a:ea typeface="+mn-lt"/>
                <a:cs typeface="+mn-lt"/>
                <a:hlinkClick r:id="rId2"/>
              </a:rPr>
              <a:t>https://github.com/Raahguu/Blockchain-CTF-Basics-Workshop-Scripts</a:t>
            </a:r>
            <a:endParaRPr lang="en-GB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73124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Blockchain CTF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Joshua Finlayson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74B8C-2EB6-CF94-A221-EA7306EECD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Blockchain Basics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391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B0F4-3EAA-092B-E76F-FE2A1369E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Transactions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9C3EB-C8BB-806F-4D68-0AA1DB00E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>
                <a:cs typeface="Arial"/>
              </a:rPr>
              <a:t>A Blockchain is a globally shared, transactional database</a:t>
            </a:r>
          </a:p>
          <a:p>
            <a:pPr marL="344170" indent="-337820"/>
            <a:r>
              <a:rPr lang="en-GB">
                <a:cs typeface="Arial"/>
              </a:rPr>
              <a:t>Everyone can Read wherever, whenever</a:t>
            </a:r>
          </a:p>
          <a:p>
            <a:pPr marL="344170" indent="-337820"/>
            <a:r>
              <a:rPr lang="en-GB">
                <a:cs typeface="Arial"/>
              </a:rPr>
              <a:t>To Write you need to make a Transaction</a:t>
            </a:r>
          </a:p>
          <a:p>
            <a:pPr marL="344170" indent="-337820"/>
            <a:r>
              <a:rPr lang="en-GB">
                <a:cs typeface="Arial"/>
              </a:rPr>
              <a:t>A Transaction means that either all the changes are made at once, or none are</a:t>
            </a:r>
          </a:p>
          <a:p>
            <a:pPr marL="344170" indent="-337820"/>
            <a:r>
              <a:rPr lang="en-GB">
                <a:cs typeface="Arial"/>
              </a:rPr>
              <a:t>Only one Transaction can occur at a time</a:t>
            </a:r>
          </a:p>
          <a:p>
            <a:pPr marL="344170" indent="-337820"/>
            <a:r>
              <a:rPr lang="en-GB">
                <a:cs typeface="Arial"/>
              </a:rPr>
              <a:t>Transactions are always signed</a:t>
            </a:r>
          </a:p>
        </p:txBody>
      </p:sp>
    </p:spTree>
    <p:extLst>
      <p:ext uri="{BB962C8B-B14F-4D97-AF65-F5344CB8AC3E}">
        <p14:creationId xmlns:p14="http://schemas.microsoft.com/office/powerpoint/2010/main" val="348252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36D00-C636-0234-E539-A81554D9B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A5F0B-41EF-16E7-FE64-83AC9EE3F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>
                <a:cs typeface="Arial"/>
              </a:rPr>
              <a:t>In a peer-to-peer network the idea of 'first' is hard to define</a:t>
            </a:r>
            <a:endParaRPr lang="en-US">
              <a:cs typeface="Arial"/>
            </a:endParaRPr>
          </a:p>
          <a:p>
            <a:pPr marL="344170" indent="-337820"/>
            <a:r>
              <a:rPr lang="en-GB">
                <a:cs typeface="Arial"/>
              </a:rPr>
              <a:t>So based on blockchain specific algorithms and the miners/</a:t>
            </a:r>
            <a:r>
              <a:rPr lang="en-GB" err="1">
                <a:cs typeface="Arial"/>
              </a:rPr>
              <a:t>stakers</a:t>
            </a:r>
            <a:r>
              <a:rPr lang="en-GB">
                <a:cs typeface="Arial"/>
              </a:rPr>
              <a:t>, transactions are bundled into 'blocks'</a:t>
            </a:r>
          </a:p>
          <a:p>
            <a:pPr marL="344170" indent="-337820"/>
            <a:r>
              <a:rPr lang="en-GB">
                <a:cs typeface="Arial"/>
              </a:rPr>
              <a:t>These blocks contain the hash of the previous block, then are added to the network</a:t>
            </a:r>
          </a:p>
          <a:p>
            <a:pPr marL="344170" indent="-337820"/>
            <a:r>
              <a:rPr lang="en-GB">
                <a:cs typeface="Arial"/>
              </a:rPr>
              <a:t>Blocks can be reverted occasionally, but this results in every block after it also needing to be reversed</a:t>
            </a:r>
          </a:p>
          <a:p>
            <a:pPr marL="344170" indent="-337820"/>
            <a:r>
              <a:rPr lang="en-GB">
                <a:cs typeface="Arial"/>
              </a:rPr>
              <a:t>The inclusion of the hashes forms the 'chain' in Blockchain</a:t>
            </a:r>
          </a:p>
          <a:p>
            <a:pPr marL="344170" indent="-337820"/>
            <a:endParaRPr lang="en-GB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9560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50071-904D-BC97-4CF7-278FA1118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Block Contents</a:t>
            </a:r>
            <a:endParaRPr lang="en-GB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2EA4575-CF51-CADD-E77A-EEB7A838D7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7668204"/>
              </p:ext>
            </p:extLst>
          </p:nvPr>
        </p:nvGraphicFramePr>
        <p:xfrm>
          <a:off x="2773363" y="2052638"/>
          <a:ext cx="779621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075">
                  <a:extLst>
                    <a:ext uri="{9D8B030D-6E8A-4147-A177-3AD203B41FA5}">
                      <a16:colId xmlns:a16="http://schemas.microsoft.com/office/drawing/2014/main" val="2904896854"/>
                    </a:ext>
                  </a:extLst>
                </a:gridCol>
                <a:gridCol w="4529137">
                  <a:extLst>
                    <a:ext uri="{9D8B030D-6E8A-4147-A177-3AD203B41FA5}">
                      <a16:colId xmlns:a16="http://schemas.microsoft.com/office/drawing/2014/main" val="14831831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851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Stores Metadata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595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Previous </a:t>
                      </a:r>
                      <a:r>
                        <a:rPr lang="en-GB">
                          <a:solidFill>
                            <a:schemeClr val="bg1"/>
                          </a:solidFill>
                        </a:rPr>
                        <a:t>Block </a:t>
                      </a:r>
                      <a:r>
                        <a:rPr lang="en-GB"/>
                        <a:t>Hash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Links to Previous </a:t>
                      </a:r>
                      <a:r>
                        <a:rPr lang="en-GB">
                          <a:solidFill>
                            <a:schemeClr val="bg1"/>
                          </a:solidFill>
                        </a:rPr>
                        <a:t>Block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432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Timestamp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When the </a:t>
                      </a:r>
                      <a:r>
                        <a:rPr lang="en-GB">
                          <a:solidFill>
                            <a:schemeClr val="bg1"/>
                          </a:solidFill>
                        </a:rPr>
                        <a:t>block </a:t>
                      </a:r>
                      <a:r>
                        <a:rPr lang="en-GB"/>
                        <a:t>was added to the network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751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bg1"/>
                          </a:solidFill>
                        </a:rPr>
                        <a:t>Transactions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All the </a:t>
                      </a:r>
                      <a:r>
                        <a:rPr lang="en-GB">
                          <a:solidFill>
                            <a:schemeClr val="bg1"/>
                          </a:solidFill>
                        </a:rPr>
                        <a:t>transactions </a:t>
                      </a:r>
                      <a:r>
                        <a:rPr lang="en-GB"/>
                        <a:t>within the block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7172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bg1"/>
                          </a:solidFill>
                        </a:rPr>
                        <a:t>Transaction's </a:t>
                      </a:r>
                      <a:r>
                        <a:rPr lang="en-GB"/>
                        <a:t>Hash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Hash of all the </a:t>
                      </a:r>
                      <a:r>
                        <a:rPr lang="en-GB">
                          <a:solidFill>
                            <a:schemeClr val="bg1"/>
                          </a:solidFill>
                        </a:rPr>
                        <a:t>transactions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934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Nonce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The nonce used as Proof-of-Work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756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Block Hash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Hash of the Block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4774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057EBCC-6E99-2F67-B617-5781CBABF9A6}"/>
              </a:ext>
            </a:extLst>
          </p:cNvPr>
          <p:cNvSpPr txBox="1"/>
          <p:nvPr/>
        </p:nvSpPr>
        <p:spPr>
          <a:xfrm>
            <a:off x="2771774" y="5200649"/>
            <a:ext cx="78014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cs typeface="Arial" panose="020B0604020202020204"/>
              </a:rPr>
              <a:t>* As Ethereum no longer uses Proof-of-Work, the 'nonce' is a legacy field </a:t>
            </a:r>
            <a:endParaRPr lang="en-US"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024712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B4671-1900-FC23-A805-32A58DB33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Miners vs </a:t>
            </a:r>
            <a:r>
              <a:rPr lang="en-GB" err="1">
                <a:cs typeface="Arial"/>
              </a:rPr>
              <a:t>Stakers</a:t>
            </a:r>
            <a:endParaRPr lang="en-GB">
              <a:cs typeface="Arial" panose="020B060402020202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2A9EA-24D4-2370-CA53-651E21655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>
                <a:cs typeface="Arial"/>
              </a:rPr>
              <a:t>Blockchains work based of Proof-of-Work (Miners), or Proof-of-Stake (</a:t>
            </a:r>
            <a:r>
              <a:rPr lang="en-GB" err="1">
                <a:cs typeface="Arial"/>
              </a:rPr>
              <a:t>Stakers</a:t>
            </a:r>
            <a:r>
              <a:rPr lang="en-GB">
                <a:cs typeface="Arial"/>
              </a:rPr>
              <a:t>)</a:t>
            </a:r>
          </a:p>
          <a:p>
            <a:pPr marL="344170" indent="-337820"/>
            <a:r>
              <a:rPr lang="en-GB">
                <a:cs typeface="Arial"/>
              </a:rPr>
              <a:t>Miners race to find a nonce for each block that matches the difficulty level (so the hash has a certain number of 0s at the start), then broadcast it first</a:t>
            </a:r>
          </a:p>
          <a:p>
            <a:pPr marL="344170" indent="-337820"/>
            <a:r>
              <a:rPr lang="en-GB" err="1">
                <a:cs typeface="Arial"/>
              </a:rPr>
              <a:t>Stakers</a:t>
            </a:r>
            <a:r>
              <a:rPr lang="en-GB">
                <a:cs typeface="Arial"/>
              </a:rPr>
              <a:t>/Validators 'stake' some cryptocurrency of theirs, and are randomly selected to propose/confirm new blocks</a:t>
            </a:r>
          </a:p>
          <a:p>
            <a:pPr marL="344170" indent="-337820"/>
            <a:r>
              <a:rPr lang="en-GB">
                <a:cs typeface="Arial"/>
              </a:rPr>
              <a:t>If </a:t>
            </a:r>
            <a:r>
              <a:rPr lang="en-GB" err="1">
                <a:cs typeface="Arial"/>
              </a:rPr>
              <a:t>Stakers</a:t>
            </a:r>
            <a:r>
              <a:rPr lang="en-GB">
                <a:cs typeface="Arial"/>
              </a:rPr>
              <a:t>/Validators lie, they lose part of their stake</a:t>
            </a:r>
          </a:p>
        </p:txBody>
      </p:sp>
    </p:spTree>
    <p:extLst>
      <p:ext uri="{BB962C8B-B14F-4D97-AF65-F5344CB8AC3E}">
        <p14:creationId xmlns:p14="http://schemas.microsoft.com/office/powerpoint/2010/main" val="1313224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318E9-8C33-D3D2-90E5-5E6F558DC7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>
                <a:cs typeface="Arial"/>
              </a:rPr>
              <a:t>Ethereum Virtual Machine (EVM)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EE9157-6164-3820-54DE-2B712B0402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5414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135E6-BCB1-161E-9855-CC464DABE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Ether and Wei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2DC92-594C-60CB-0459-0DBD5BD3F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>
                <a:cs typeface="Arial"/>
              </a:rPr>
              <a:t>As float math is hard, blockchains avoid it by representing their token as an integer that needs to be shifted</a:t>
            </a:r>
          </a:p>
          <a:p>
            <a:pPr marL="344170" indent="-337820"/>
            <a:r>
              <a:rPr lang="en-GB">
                <a:cs typeface="Arial"/>
              </a:rPr>
              <a:t>Values are stored as </a:t>
            </a:r>
            <a:r>
              <a:rPr lang="en-GB">
                <a:solidFill>
                  <a:srgbClr val="FFC000"/>
                </a:solidFill>
                <a:cs typeface="Arial"/>
              </a:rPr>
              <a:t>uint256</a:t>
            </a:r>
            <a:r>
              <a:rPr lang="en-GB">
                <a:solidFill>
                  <a:srgbClr val="FFFFFF"/>
                </a:solidFill>
                <a:cs typeface="Arial"/>
              </a:rPr>
              <a:t>s</a:t>
            </a:r>
            <a:r>
              <a:rPr lang="en-GB">
                <a:cs typeface="Arial"/>
              </a:rPr>
              <a:t>, and in Wei</a:t>
            </a:r>
          </a:p>
          <a:p>
            <a:pPr marL="344170" indent="-337820"/>
            <a:r>
              <a:rPr lang="en-GB">
                <a:cs typeface="Arial"/>
              </a:rPr>
              <a:t>1 Ether = 10</a:t>
            </a:r>
            <a:r>
              <a:rPr lang="en-GB" baseline="30000">
                <a:cs typeface="Arial"/>
              </a:rPr>
              <a:t>18</a:t>
            </a:r>
            <a:r>
              <a:rPr lang="en-GB">
                <a:cs typeface="Arial"/>
              </a:rPr>
              <a:t> Wei</a:t>
            </a:r>
            <a:endParaRPr lang="en-GB" baseline="300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14768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77F8C-EBEB-9349-40C7-3D643E22E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FFFF"/>
                </a:solidFill>
                <a:cs typeface="Arial"/>
              </a:rPr>
              <a:t>Accounts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2B626-F059-3E42-CEAD-EEDBC60BE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350" indent="0">
              <a:buNone/>
            </a:pPr>
            <a:r>
              <a:rPr lang="en-GB">
                <a:cs typeface="Arial"/>
              </a:rPr>
              <a:t>Two kinds of </a:t>
            </a:r>
            <a:r>
              <a:rPr lang="en-GB">
                <a:solidFill>
                  <a:srgbClr val="FFFFFF"/>
                </a:solidFill>
                <a:cs typeface="Arial"/>
              </a:rPr>
              <a:t>accounts </a:t>
            </a:r>
            <a:r>
              <a:rPr lang="en-GB">
                <a:cs typeface="Arial"/>
              </a:rPr>
              <a:t>in Ethereum</a:t>
            </a:r>
            <a:endParaRPr lang="en-US">
              <a:cs typeface="Arial" panose="020B0604020202020204"/>
            </a:endParaRPr>
          </a:p>
          <a:p>
            <a:pPr marL="463550" indent="-457200">
              <a:buAutoNum type="arabicPeriod"/>
            </a:pPr>
            <a:r>
              <a:rPr lang="en-GB">
                <a:solidFill>
                  <a:srgbClr val="FFFFFF"/>
                </a:solidFill>
                <a:cs typeface="Arial"/>
              </a:rPr>
              <a:t>Exte</a:t>
            </a:r>
            <a:r>
              <a:rPr lang="en-GB">
                <a:cs typeface="Arial"/>
              </a:rPr>
              <a:t>rnally Owned Accounts (EOAs) - Users</a:t>
            </a:r>
          </a:p>
          <a:p>
            <a:pPr marL="914400" lvl="1" indent="-457200">
              <a:buFont typeface="Courier New"/>
              <a:buChar char="o"/>
            </a:pPr>
            <a:r>
              <a:rPr lang="en-GB">
                <a:cs typeface="Arial"/>
              </a:rPr>
              <a:t>Has a public/private key pair</a:t>
            </a:r>
          </a:p>
          <a:p>
            <a:pPr marL="914400" lvl="1" indent="-457200">
              <a:buFont typeface="Courier New"/>
              <a:buChar char="o"/>
            </a:pPr>
            <a:r>
              <a:rPr lang="en-GB">
                <a:cs typeface="Arial"/>
              </a:rPr>
              <a:t>Has an Ether balance</a:t>
            </a:r>
          </a:p>
          <a:p>
            <a:pPr marL="463550" indent="-457200">
              <a:buAutoNum type="arabicPeriod"/>
            </a:pPr>
            <a:r>
              <a:rPr lang="en-GB">
                <a:cs typeface="Arial"/>
              </a:rPr>
              <a:t>Contracts - Code</a:t>
            </a:r>
          </a:p>
          <a:p>
            <a:pPr marL="914400" lvl="1" indent="-457200">
              <a:buFont typeface="Courier New" panose="05000000000000000000" pitchFamily="2" charset="2"/>
              <a:buChar char="o"/>
            </a:pPr>
            <a:r>
              <a:rPr lang="en-GB">
                <a:cs typeface="Arial"/>
              </a:rPr>
              <a:t>Stores Code</a:t>
            </a:r>
          </a:p>
          <a:p>
            <a:pPr marL="914400" lvl="1" indent="-457200">
              <a:buFont typeface="Courier New" panose="05000000000000000000" pitchFamily="2" charset="2"/>
              <a:buChar char="o"/>
            </a:pPr>
            <a:r>
              <a:rPr lang="en-GB">
                <a:cs typeface="Arial"/>
              </a:rPr>
              <a:t>A Ether Balance</a:t>
            </a:r>
          </a:p>
          <a:p>
            <a:pPr marL="914400" lvl="1" indent="-457200">
              <a:buFont typeface="Courier New" panose="05000000000000000000" pitchFamily="2" charset="2"/>
              <a:buChar char="o"/>
            </a:pPr>
            <a:r>
              <a:rPr lang="en-GB">
                <a:cs typeface="Arial"/>
              </a:rPr>
              <a:t>Has Storage</a:t>
            </a:r>
          </a:p>
          <a:p>
            <a:pPr marL="914400" lvl="1" indent="-457200">
              <a:buFont typeface="Courier New" panose="05000000000000000000" pitchFamily="2" charset="2"/>
              <a:buChar char="o"/>
            </a:pPr>
            <a:endParaRPr lang="en-GB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9423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588DE-AD08-A391-C739-E0A6A6CC3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Transactions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031D2-E643-9AE5-BEF0-D87D78639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>
                <a:cs typeface="Arial"/>
              </a:rPr>
              <a:t>Transactions can carry an arbitrary payload in addition to Eth</a:t>
            </a:r>
          </a:p>
          <a:p>
            <a:pPr marL="344170" indent="-337820"/>
            <a:r>
              <a:rPr lang="en-GB">
                <a:cs typeface="Arial"/>
              </a:rPr>
              <a:t>Therefore, the EVM can take the payload of a Transaction and use it to call functions on contracts</a:t>
            </a:r>
          </a:p>
          <a:p>
            <a:pPr marL="344170" indent="-337820"/>
            <a:r>
              <a:rPr lang="en-GB">
                <a:cs typeface="Arial"/>
              </a:rPr>
              <a:t>Or use it to carry code to create contracts</a:t>
            </a:r>
          </a:p>
        </p:txBody>
      </p:sp>
    </p:spTree>
    <p:extLst>
      <p:ext uri="{BB962C8B-B14F-4D97-AF65-F5344CB8AC3E}">
        <p14:creationId xmlns:p14="http://schemas.microsoft.com/office/powerpoint/2010/main" val="2991867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573-A56D-597B-7C90-DCCF2DBBB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Gas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7246F-7A7C-691E-9F45-7B1DF7461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344170" indent="-337820"/>
            <a:r>
              <a:rPr lang="en-GB">
                <a:cs typeface="Arial"/>
              </a:rPr>
              <a:t>When a Transaction is created, the creator must pay for 'gas'</a:t>
            </a:r>
            <a:endParaRPr lang="en-US"/>
          </a:p>
          <a:p>
            <a:pPr marL="344170" indent="-337820"/>
            <a:r>
              <a:rPr lang="en-GB">
                <a:cs typeface="Arial"/>
              </a:rPr>
              <a:t>This 'gas' compensates the </a:t>
            </a:r>
            <a:r>
              <a:rPr lang="en-GB" err="1">
                <a:cs typeface="Arial"/>
              </a:rPr>
              <a:t>Stakers</a:t>
            </a:r>
            <a:r>
              <a:rPr lang="en-GB">
                <a:cs typeface="Arial"/>
              </a:rPr>
              <a:t> who validate the transaction, and ensures blockchains are not flooded with transactions</a:t>
            </a:r>
          </a:p>
          <a:p>
            <a:pPr marL="344170" indent="-337820"/>
            <a:r>
              <a:rPr lang="en-GB">
                <a:cs typeface="Arial"/>
              </a:rPr>
              <a:t>The more complex a transaction/longer it takes/more storage it takes, the more gas is needed</a:t>
            </a:r>
          </a:p>
          <a:p>
            <a:pPr marL="344170" indent="-337820"/>
            <a:r>
              <a:rPr lang="en-GB">
                <a:cs typeface="Arial"/>
              </a:rPr>
              <a:t>If the required gas is higher than the supplied gas the transaction is cancelled, no gas refund</a:t>
            </a:r>
          </a:p>
          <a:p>
            <a:pPr marL="344170" indent="-337820"/>
            <a:r>
              <a:rPr lang="en-GB">
                <a:cs typeface="Arial"/>
              </a:rPr>
              <a:t>Blocks have a maximum amount of gas</a:t>
            </a:r>
          </a:p>
          <a:p>
            <a:pPr marL="344170" indent="-337820"/>
            <a:r>
              <a:rPr lang="en-GB">
                <a:cs typeface="Arial"/>
              </a:rPr>
              <a:t>Any extra gas is refunded</a:t>
            </a:r>
          </a:p>
        </p:txBody>
      </p:sp>
    </p:spTree>
    <p:extLst>
      <p:ext uri="{BB962C8B-B14F-4D97-AF65-F5344CB8AC3E}">
        <p14:creationId xmlns:p14="http://schemas.microsoft.com/office/powerpoint/2010/main" val="2348340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99100-7ED9-4FC9-EFFA-D04FF522C3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Break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7676E0-73E0-AA0F-FA68-A49FCEAEAA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4509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B42D0-4B93-7DA7-46D8-A922C5FAC6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Smart Contracts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83A257-431D-558D-CA32-E783B12333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8803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1250C-43AB-B195-0DD8-05CAEBA40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What are Smart Contracts?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987AD-2C0B-1CE2-4E19-793B97E86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>
                <a:cs typeface="Arial"/>
              </a:rPr>
              <a:t>A state machine deployed to the blockchain</a:t>
            </a:r>
          </a:p>
          <a:p>
            <a:pPr marL="344170" indent="-337820"/>
            <a:r>
              <a:rPr lang="en-GB">
                <a:cs typeface="Arial"/>
              </a:rPr>
              <a:t>It is some code </a:t>
            </a:r>
            <a:r>
              <a:rPr lang="en-GB">
                <a:ea typeface="+mn-lt"/>
                <a:cs typeface="+mn-lt"/>
              </a:rPr>
              <a:t>permanently </a:t>
            </a:r>
            <a:r>
              <a:rPr lang="en-GB">
                <a:cs typeface="Arial"/>
              </a:rPr>
              <a:t>on the blockchain that can be interacted with through its 160-bit address</a:t>
            </a:r>
          </a:p>
          <a:p>
            <a:pPr marL="344170" indent="-337820"/>
            <a:r>
              <a:rPr lang="en-GB">
                <a:cs typeface="Arial"/>
              </a:rPr>
              <a:t>Anyone can execute transactions with it where they call functions defined within it</a:t>
            </a:r>
          </a:p>
          <a:p>
            <a:pPr marL="344170" indent="-337820"/>
            <a:r>
              <a:rPr lang="en-GB">
                <a:cs typeface="Arial"/>
              </a:rPr>
              <a:t>An address that function names and values can be sent to that does stuff</a:t>
            </a:r>
          </a:p>
        </p:txBody>
      </p:sp>
    </p:spTree>
    <p:extLst>
      <p:ext uri="{BB962C8B-B14F-4D97-AF65-F5344CB8AC3E}">
        <p14:creationId xmlns:p14="http://schemas.microsoft.com/office/powerpoint/2010/main" val="3608753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CC78D-1897-B2C8-6330-B4244DD9B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Solidity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C738D-F85F-838E-1A92-726412472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>
                <a:cs typeface="Arial"/>
              </a:rPr>
              <a:t>The most popular language for implementing EVM smart contracts</a:t>
            </a:r>
          </a:p>
          <a:p>
            <a:pPr marL="344170" indent="-337820"/>
            <a:r>
              <a:rPr lang="en-GB">
                <a:cs typeface="Arial"/>
              </a:rPr>
              <a:t>The language we will be covering in this workshop, and the one most common in CTFs</a:t>
            </a:r>
          </a:p>
          <a:p>
            <a:pPr marL="344170" indent="-337820"/>
            <a:r>
              <a:rPr lang="en-GB">
                <a:cs typeface="Arial"/>
              </a:rPr>
              <a:t>Gets compiled into EVM bytecode</a:t>
            </a:r>
          </a:p>
          <a:p>
            <a:pPr marL="344170" indent="-337820"/>
            <a:r>
              <a:rPr lang="en-GB">
                <a:cs typeface="Arial"/>
              </a:rPr>
              <a:t>Is JavaScript-</a:t>
            </a:r>
            <a:r>
              <a:rPr lang="en-GB" err="1">
                <a:cs typeface="Arial"/>
              </a:rPr>
              <a:t>esque</a:t>
            </a:r>
          </a:p>
          <a:p>
            <a:pPr marL="344170" indent="-337820"/>
            <a:endParaRPr lang="en-GB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16970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2FCA1-B412-DBEC-074D-76DF7A2AD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Trivial</a:t>
            </a:r>
            <a:endParaRPr lang="en-GB"/>
          </a:p>
        </p:txBody>
      </p:sp>
      <p:pic>
        <p:nvPicPr>
          <p:cNvPr id="4" name="Content Placeholder 3" descr="A computer code on a blue background&#10;&#10;AI-generated content may be incorrect.">
            <a:extLst>
              <a:ext uri="{FF2B5EF4-FFF2-40B4-BE49-F238E27FC236}">
                <a16:creationId xmlns:a16="http://schemas.microsoft.com/office/drawing/2014/main" id="{6743BA58-39E4-BF6B-4745-8662B6A562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2571" y="1345138"/>
            <a:ext cx="8587567" cy="22186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535498-705A-A548-E881-AFBDDC368779}"/>
              </a:ext>
            </a:extLst>
          </p:cNvPr>
          <p:cNvSpPr txBox="1"/>
          <p:nvPr/>
        </p:nvSpPr>
        <p:spPr>
          <a:xfrm>
            <a:off x="1980101" y="3720399"/>
            <a:ext cx="8824684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>
                <a:cs typeface="Arial"/>
              </a:rPr>
              <a:t>Breakdown:</a:t>
            </a:r>
          </a:p>
          <a:p>
            <a:pPr marL="285750" indent="-285750">
              <a:buFont typeface="Arial"/>
              <a:buChar char="•"/>
            </a:pPr>
            <a:r>
              <a:rPr lang="en-GB">
                <a:solidFill>
                  <a:srgbClr val="92D050"/>
                </a:solidFill>
                <a:cs typeface="Arial"/>
              </a:rPr>
              <a:t>pragma </a:t>
            </a:r>
            <a:r>
              <a:rPr lang="en-GB">
                <a:solidFill>
                  <a:srgbClr val="00B0F0"/>
                </a:solidFill>
                <a:cs typeface="Arial"/>
              </a:rPr>
              <a:t>solidity </a:t>
            </a:r>
            <a:r>
              <a:rPr lang="en-GB">
                <a:solidFill>
                  <a:schemeClr val="accent6">
                    <a:lumMod val="49000"/>
                  </a:schemeClr>
                </a:solidFill>
                <a:cs typeface="Arial"/>
              </a:rPr>
              <a:t>^0.8.20</a:t>
            </a:r>
            <a:r>
              <a:rPr lang="en-GB">
                <a:cs typeface="Arial"/>
              </a:rPr>
              <a:t>;  &lt;- Specifies the version to compile for</a:t>
            </a:r>
          </a:p>
          <a:p>
            <a:pPr marL="285750" indent="-285750">
              <a:buFont typeface="Arial"/>
              <a:buChar char="•"/>
            </a:pPr>
            <a:r>
              <a:rPr lang="en-GB" b="1">
                <a:cs typeface="Arial"/>
              </a:rPr>
              <a:t>contract </a:t>
            </a:r>
            <a:r>
              <a:rPr lang="en-GB">
                <a:solidFill>
                  <a:schemeClr val="accent6">
                    <a:lumMod val="49000"/>
                  </a:schemeClr>
                </a:solidFill>
                <a:cs typeface="Arial"/>
              </a:rPr>
              <a:t>Trivial  </a:t>
            </a:r>
            <a:r>
              <a:rPr lang="en-GB">
                <a:cs typeface="Arial"/>
              </a:rPr>
              <a:t>&lt;-  Declares the name of the contract</a:t>
            </a:r>
          </a:p>
          <a:p>
            <a:pPr marL="285750" indent="-285750">
              <a:buFont typeface="Arial"/>
              <a:buChar char="•"/>
            </a:pPr>
            <a:r>
              <a:rPr lang="en-GB" b="1">
                <a:cs typeface="Arial"/>
              </a:rPr>
              <a:t>function </a:t>
            </a:r>
            <a:r>
              <a:rPr lang="en-GB" err="1">
                <a:solidFill>
                  <a:srgbClr val="00B0F0"/>
                </a:solidFill>
                <a:cs typeface="Arial"/>
              </a:rPr>
              <a:t>getValue</a:t>
            </a:r>
            <a:r>
              <a:rPr lang="en-GB">
                <a:solidFill>
                  <a:srgbClr val="FFC000"/>
                </a:solidFill>
                <a:cs typeface="Arial"/>
              </a:rPr>
              <a:t>()</a:t>
            </a:r>
            <a:r>
              <a:rPr lang="en-GB">
                <a:cs typeface="Arial"/>
              </a:rPr>
              <a:t> &lt;- Declares a function called '</a:t>
            </a:r>
            <a:r>
              <a:rPr lang="en-GB" err="1">
                <a:cs typeface="Arial"/>
              </a:rPr>
              <a:t>getValue</a:t>
            </a:r>
            <a:r>
              <a:rPr lang="en-GB">
                <a:cs typeface="Arial"/>
              </a:rPr>
              <a:t>' with no parameters</a:t>
            </a:r>
          </a:p>
          <a:p>
            <a:pPr marL="285750" indent="-285750">
              <a:buFont typeface="Arial"/>
              <a:buChar char="•"/>
            </a:pPr>
            <a:r>
              <a:rPr lang="en-GB" b="1">
                <a:cs typeface="Arial"/>
              </a:rPr>
              <a:t>public </a:t>
            </a:r>
            <a:r>
              <a:rPr lang="en-GB">
                <a:cs typeface="Arial"/>
              </a:rPr>
              <a:t>&lt;- Function called be invoked by an external transaction</a:t>
            </a:r>
          </a:p>
          <a:p>
            <a:pPr marL="285750" indent="-285750">
              <a:buFont typeface="Arial"/>
              <a:buChar char="•"/>
            </a:pPr>
            <a:r>
              <a:rPr lang="en-GB" b="1">
                <a:cs typeface="Arial"/>
              </a:rPr>
              <a:t>pure </a:t>
            </a:r>
            <a:r>
              <a:rPr lang="en-GB">
                <a:cs typeface="Arial"/>
              </a:rPr>
              <a:t>&lt;- Function does not have side effects, or access internal memory</a:t>
            </a:r>
          </a:p>
          <a:p>
            <a:pPr marL="285750" indent="-285750">
              <a:buFont typeface="Arial"/>
              <a:buChar char="•"/>
            </a:pPr>
            <a:r>
              <a:rPr lang="en-GB">
                <a:solidFill>
                  <a:srgbClr val="92D050"/>
                </a:solidFill>
                <a:cs typeface="Arial"/>
              </a:rPr>
              <a:t>returns </a:t>
            </a:r>
            <a:r>
              <a:rPr lang="en-GB">
                <a:solidFill>
                  <a:srgbClr val="FFC000"/>
                </a:solidFill>
                <a:cs typeface="Arial"/>
              </a:rPr>
              <a:t>(</a:t>
            </a:r>
            <a:r>
              <a:rPr lang="en-GB">
                <a:solidFill>
                  <a:srgbClr val="92D050"/>
                </a:solidFill>
                <a:cs typeface="Arial"/>
              </a:rPr>
              <a:t>uint256</a:t>
            </a:r>
            <a:r>
              <a:rPr lang="en-GB">
                <a:solidFill>
                  <a:srgbClr val="FFC000"/>
                </a:solidFill>
                <a:cs typeface="Arial"/>
              </a:rPr>
              <a:t>)</a:t>
            </a:r>
            <a:r>
              <a:rPr lang="en-GB">
                <a:cs typeface="Arial"/>
              </a:rPr>
              <a:t> &lt;- Function returns a 256-bit unsinged integer</a:t>
            </a:r>
          </a:p>
          <a:p>
            <a:pPr marL="285750" indent="-285750">
              <a:buFont typeface="Arial"/>
              <a:buChar char="•"/>
            </a:pPr>
            <a:r>
              <a:rPr lang="en-GB">
                <a:solidFill>
                  <a:srgbClr val="92D050"/>
                </a:solidFill>
                <a:cs typeface="Arial"/>
              </a:rPr>
              <a:t>return </a:t>
            </a:r>
            <a:r>
              <a:rPr lang="en-GB">
                <a:solidFill>
                  <a:schemeClr val="accent3">
                    <a:lumMod val="76000"/>
                  </a:schemeClr>
                </a:solidFill>
                <a:cs typeface="Arial"/>
              </a:rPr>
              <a:t>77 </a:t>
            </a:r>
            <a:r>
              <a:rPr lang="en-GB">
                <a:cs typeface="Arial"/>
              </a:rPr>
              <a:t>&lt;- Function returns the value '77'</a:t>
            </a:r>
          </a:p>
        </p:txBody>
      </p:sp>
    </p:spTree>
    <p:extLst>
      <p:ext uri="{BB962C8B-B14F-4D97-AF65-F5344CB8AC3E}">
        <p14:creationId xmlns:p14="http://schemas.microsoft.com/office/powerpoint/2010/main" val="496481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4749F-C193-AEE2-A333-635B170AC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C000"/>
                </a:solidFill>
                <a:cs typeface="Arial"/>
              </a:rPr>
              <a:t>view </a:t>
            </a:r>
            <a:r>
              <a:rPr lang="en-GB">
                <a:cs typeface="Arial"/>
              </a:rPr>
              <a:t>and </a:t>
            </a:r>
            <a:r>
              <a:rPr lang="en-GB">
                <a:solidFill>
                  <a:srgbClr val="FFC000"/>
                </a:solidFill>
                <a:cs typeface="Arial"/>
              </a:rPr>
              <a:t>pure</a:t>
            </a:r>
            <a:endParaRPr lang="en-GB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DCF34-C6C3-5A8E-EEB7-0D2C35A44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>
                <a:cs typeface="Arial"/>
              </a:rPr>
              <a:t>These are two special function '</a:t>
            </a:r>
            <a:r>
              <a:rPr lang="en-GB">
                <a:solidFill>
                  <a:srgbClr val="FFC000"/>
                </a:solidFill>
                <a:cs typeface="Arial"/>
              </a:rPr>
              <a:t>modifiers</a:t>
            </a:r>
            <a:r>
              <a:rPr lang="en-GB">
                <a:cs typeface="Arial"/>
              </a:rPr>
              <a:t>' that make calling the function not need Gas</a:t>
            </a:r>
            <a:endParaRPr lang="en-US">
              <a:cs typeface="Arial"/>
            </a:endParaRPr>
          </a:p>
          <a:p>
            <a:pPr marL="344170" indent="-337820"/>
            <a:r>
              <a:rPr lang="en-GB">
                <a:solidFill>
                  <a:srgbClr val="FFC000"/>
                </a:solidFill>
                <a:cs typeface="Arial"/>
              </a:rPr>
              <a:t>view </a:t>
            </a:r>
            <a:r>
              <a:rPr lang="en-GB">
                <a:cs typeface="Arial"/>
              </a:rPr>
              <a:t>is for when a function does not change anything about the blockchain</a:t>
            </a:r>
            <a:endParaRPr lang="en-US">
              <a:cs typeface="Arial"/>
            </a:endParaRPr>
          </a:p>
          <a:p>
            <a:pPr marL="344170" indent="-337820"/>
            <a:r>
              <a:rPr lang="en-GB">
                <a:solidFill>
                  <a:srgbClr val="FFC000"/>
                </a:solidFill>
                <a:cs typeface="Arial"/>
              </a:rPr>
              <a:t>pure </a:t>
            </a:r>
            <a:r>
              <a:rPr lang="en-GB">
                <a:cs typeface="Arial"/>
              </a:rPr>
              <a:t>is for when a function is a </a:t>
            </a:r>
            <a:r>
              <a:rPr lang="en-GB">
                <a:solidFill>
                  <a:srgbClr val="FFC000"/>
                </a:solidFill>
                <a:cs typeface="Arial"/>
              </a:rPr>
              <a:t>view </a:t>
            </a:r>
            <a:r>
              <a:rPr lang="en-GB">
                <a:cs typeface="Arial"/>
              </a:rPr>
              <a:t>and it does not access the storage/contract-level variables</a:t>
            </a:r>
          </a:p>
        </p:txBody>
      </p:sp>
    </p:spTree>
    <p:extLst>
      <p:ext uri="{BB962C8B-B14F-4D97-AF65-F5344CB8AC3E}">
        <p14:creationId xmlns:p14="http://schemas.microsoft.com/office/powerpoint/2010/main" val="14890348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F2B3E-F3AC-BDC0-E200-17F8AB49F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Trivial with State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85B50-D73F-09AF-990C-C6E2DB107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3372" y="4200231"/>
            <a:ext cx="8536768" cy="2081942"/>
          </a:xfrm>
        </p:spPr>
        <p:txBody>
          <a:bodyPr/>
          <a:lstStyle/>
          <a:p>
            <a:pPr marL="344170" indent="-337820"/>
            <a:r>
              <a:rPr lang="en-GB">
                <a:solidFill>
                  <a:srgbClr val="92D050"/>
                </a:solidFill>
                <a:cs typeface="Arial"/>
              </a:rPr>
              <a:t>uint256 </a:t>
            </a:r>
            <a:r>
              <a:rPr lang="en-GB">
                <a:cs typeface="Arial"/>
              </a:rPr>
              <a:t>value </a:t>
            </a:r>
            <a:r>
              <a:rPr lang="en-GB">
                <a:solidFill>
                  <a:srgbClr val="92D050"/>
                </a:solidFill>
                <a:cs typeface="Arial"/>
              </a:rPr>
              <a:t>= </a:t>
            </a:r>
            <a:r>
              <a:rPr lang="en-GB">
                <a:solidFill>
                  <a:schemeClr val="accent3">
                    <a:lumMod val="76000"/>
                  </a:schemeClr>
                </a:solidFill>
                <a:cs typeface="Arial"/>
              </a:rPr>
              <a:t>12 </a:t>
            </a:r>
            <a:r>
              <a:rPr lang="en-GB">
                <a:cs typeface="Arial"/>
              </a:rPr>
              <a:t>&lt;- Defines contract-level variable of type 'uint256' into storage that is persistent between transactions, that default to '12'</a:t>
            </a:r>
          </a:p>
          <a:p>
            <a:pPr marL="344170" indent="-337820"/>
            <a:r>
              <a:rPr lang="en-GB" b="1">
                <a:cs typeface="Arial"/>
              </a:rPr>
              <a:t>view </a:t>
            </a:r>
            <a:r>
              <a:rPr lang="en-GB">
                <a:cs typeface="Arial"/>
              </a:rPr>
              <a:t>&lt;- The function access storage and so is not </a:t>
            </a:r>
            <a:r>
              <a:rPr lang="en-GB">
                <a:solidFill>
                  <a:srgbClr val="FFC000"/>
                </a:solidFill>
                <a:cs typeface="Arial"/>
              </a:rPr>
              <a:t>pure</a:t>
            </a:r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E9106B49-F741-CCA5-ABE9-0187E3DD0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1348122"/>
            <a:ext cx="8541657" cy="2942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35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02EBCF84-C4F3-E33B-8153-AF3954398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0" y="1348921"/>
            <a:ext cx="7728858" cy="37827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890E50-3020-4FF3-65E1-DDC6EAF2A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Trivial with Constructed State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42034-2C1A-8B4D-060E-4C9EEB7F9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6170" y="4933201"/>
            <a:ext cx="7723969" cy="1690057"/>
          </a:xfrm>
        </p:spPr>
        <p:txBody>
          <a:bodyPr/>
          <a:lstStyle/>
          <a:p>
            <a:pPr marL="344170" indent="-337820"/>
            <a:r>
              <a:rPr lang="en-GB" b="1" dirty="0">
                <a:cs typeface="Arial"/>
              </a:rPr>
              <a:t>constructor </a:t>
            </a:r>
            <a:r>
              <a:rPr lang="en-GB" dirty="0">
                <a:cs typeface="Arial"/>
              </a:rPr>
              <a:t>&lt;- defines the '__</a:t>
            </a:r>
            <a:r>
              <a:rPr lang="en-GB" dirty="0" err="1">
                <a:cs typeface="Arial"/>
              </a:rPr>
              <a:t>init</a:t>
            </a:r>
            <a:r>
              <a:rPr lang="en-GB" dirty="0">
                <a:cs typeface="Arial"/>
              </a:rPr>
              <a:t>__' function for the contract</a:t>
            </a:r>
          </a:p>
          <a:p>
            <a:pPr marL="344170" indent="-337820"/>
            <a:r>
              <a:rPr lang="en-GB">
                <a:solidFill>
                  <a:srgbClr val="92D050"/>
                </a:solidFill>
                <a:cs typeface="Arial"/>
              </a:rPr>
              <a:t>uint256 </a:t>
            </a:r>
            <a:r>
              <a:rPr lang="en-GB">
                <a:cs typeface="Arial"/>
              </a:rPr>
              <a:t>_state &lt;- 1 argument of type </a:t>
            </a:r>
            <a:r>
              <a:rPr lang="en-GB">
                <a:solidFill>
                  <a:srgbClr val="92D050"/>
                </a:solidFill>
                <a:cs typeface="Arial"/>
              </a:rPr>
              <a:t>uint256 </a:t>
            </a:r>
            <a:r>
              <a:rPr lang="en-GB">
                <a:cs typeface="Arial"/>
              </a:rPr>
              <a:t>for the constructor</a:t>
            </a:r>
            <a:endParaRPr lang="en-GB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565062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E5451-40CE-B2C8-2034-7753DBA0A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Counter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5325A-F513-C217-F099-E2FBE393E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5216230"/>
            <a:ext cx="7796540" cy="1494114"/>
          </a:xfrm>
        </p:spPr>
        <p:txBody>
          <a:bodyPr/>
          <a:lstStyle/>
          <a:p>
            <a:pPr marL="344170" indent="-337820"/>
            <a:r>
              <a:rPr lang="en-GB">
                <a:solidFill>
                  <a:srgbClr val="00B0F0"/>
                </a:solidFill>
                <a:cs typeface="Arial"/>
              </a:rPr>
              <a:t>increment </a:t>
            </a:r>
            <a:r>
              <a:rPr lang="en-GB">
                <a:cs typeface="Arial"/>
              </a:rPr>
              <a:t>is not a </a:t>
            </a:r>
            <a:r>
              <a:rPr lang="en-GB">
                <a:solidFill>
                  <a:srgbClr val="FFC000"/>
                </a:solidFill>
                <a:cs typeface="Arial"/>
              </a:rPr>
              <a:t>view </a:t>
            </a:r>
            <a:r>
              <a:rPr lang="en-GB">
                <a:cs typeface="Arial"/>
              </a:rPr>
              <a:t>because it changes values in storage (count)</a:t>
            </a:r>
            <a:endParaRPr lang="en-GB" dirty="0">
              <a:cs typeface="Arial"/>
            </a:endParaRPr>
          </a:p>
          <a:p>
            <a:pPr marL="344170" indent="-337820"/>
            <a:r>
              <a:rPr lang="en-GB">
                <a:cs typeface="Arial"/>
              </a:rPr>
              <a:t>Because it is not </a:t>
            </a:r>
            <a:r>
              <a:rPr lang="en-GB">
                <a:solidFill>
                  <a:srgbClr val="FFC000"/>
                </a:solidFill>
                <a:cs typeface="Arial"/>
              </a:rPr>
              <a:t>view</a:t>
            </a:r>
            <a:r>
              <a:rPr lang="en-GB">
                <a:cs typeface="Arial"/>
              </a:rPr>
              <a:t>, it takes gas</a:t>
            </a:r>
            <a:endParaRPr lang="en-GB" dirty="0">
              <a:cs typeface="Arial"/>
            </a:endParaRPr>
          </a:p>
        </p:txBody>
      </p:sp>
      <p:pic>
        <p:nvPicPr>
          <p:cNvPr id="4" name="Picture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5BB567EA-7147-E87F-C85D-C9C75E234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601" y="1047417"/>
            <a:ext cx="6518729" cy="416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4469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87264-7695-2BFC-7F03-B038A22C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Set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1C0CD-C6DA-B27D-BDA9-890AA5E08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3942" y="5854859"/>
            <a:ext cx="7796540" cy="790171"/>
          </a:xfrm>
        </p:spPr>
        <p:txBody>
          <a:bodyPr/>
          <a:lstStyle/>
          <a:p>
            <a:pPr marL="344170" indent="-337820"/>
            <a:r>
              <a:rPr lang="en-GB" dirty="0" err="1">
                <a:solidFill>
                  <a:srgbClr val="00B0F0"/>
                </a:solidFill>
                <a:cs typeface="Arial"/>
              </a:rPr>
              <a:t>setValue</a:t>
            </a:r>
            <a:r>
              <a:rPr lang="en-GB" dirty="0">
                <a:solidFill>
                  <a:srgbClr val="00B0F0"/>
                </a:solidFill>
                <a:cs typeface="Arial"/>
              </a:rPr>
              <a:t> </a:t>
            </a:r>
            <a:r>
              <a:rPr lang="en-GB" dirty="0">
                <a:cs typeface="Arial"/>
              </a:rPr>
              <a:t>is called with an argument of type </a:t>
            </a:r>
            <a:r>
              <a:rPr lang="en-GB" dirty="0">
                <a:solidFill>
                  <a:srgbClr val="92D050"/>
                </a:solidFill>
                <a:cs typeface="Arial"/>
              </a:rPr>
              <a:t>uint256 </a:t>
            </a:r>
          </a:p>
        </p:txBody>
      </p:sp>
      <p:pic>
        <p:nvPicPr>
          <p:cNvPr id="4" name="Picture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92EBA2BA-862E-1549-7BE9-E672D126D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293" y="1243241"/>
            <a:ext cx="7200900" cy="460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8862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4944B-E55C-E543-634A-B2E720A1DB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Foundry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763BCB-491D-2F89-AC51-1B37A5FDC0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5152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598AC-C995-51FC-07D6-73FA050F4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Install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DA95D-83ED-614A-3FD1-E379597A7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 dirty="0">
                <a:cs typeface="Arial"/>
              </a:rPr>
              <a:t>Do NOT run '</a:t>
            </a:r>
            <a:r>
              <a:rPr lang="en-GB" dirty="0" err="1">
                <a:cs typeface="Arial"/>
              </a:rPr>
              <a:t>sudo</a:t>
            </a:r>
            <a:r>
              <a:rPr lang="en-GB" dirty="0">
                <a:cs typeface="Arial"/>
              </a:rPr>
              <a:t> apt install foundry'. That is NOT the tool.</a:t>
            </a:r>
          </a:p>
          <a:p>
            <a:pPr marL="344170" indent="-337820"/>
            <a:r>
              <a:rPr lang="en-GB">
                <a:cs typeface="Arial"/>
              </a:rPr>
              <a:t>Go to </a:t>
            </a:r>
            <a:r>
              <a:rPr lang="en-GB" dirty="0">
                <a:ea typeface="+mn-lt"/>
                <a:cs typeface="+mn-lt"/>
                <a:hlinkClick r:id="rId2"/>
              </a:rPr>
              <a:t>https://www.getfoundry.sh/</a:t>
            </a:r>
            <a:r>
              <a:rPr lang="en-US">
                <a:ea typeface="+mn-lt"/>
                <a:cs typeface="+mn-lt"/>
              </a:rPr>
              <a:t> and run the install command</a:t>
            </a:r>
          </a:p>
          <a:p>
            <a:pPr marL="344170" indent="-337820"/>
            <a:r>
              <a:rPr lang="en-GB">
                <a:ea typeface="+mn-lt"/>
                <a:cs typeface="+mn-lt"/>
              </a:rPr>
              <a:t>Reload your path (new terminal, or reload source)</a:t>
            </a:r>
            <a:endParaRPr lang="en-GB" dirty="0">
              <a:ea typeface="+mn-lt"/>
              <a:cs typeface="+mn-lt"/>
            </a:endParaRPr>
          </a:p>
          <a:p>
            <a:pPr marL="344170" indent="-337820"/>
            <a:r>
              <a:rPr lang="en-GB" dirty="0">
                <a:ea typeface="+mn-lt"/>
                <a:cs typeface="+mn-lt"/>
              </a:rPr>
              <a:t>Then run the command '</a:t>
            </a:r>
            <a:r>
              <a:rPr lang="en-GB" dirty="0" err="1">
                <a:ea typeface="+mn-lt"/>
                <a:cs typeface="+mn-lt"/>
              </a:rPr>
              <a:t>foundryup</a:t>
            </a:r>
            <a:r>
              <a:rPr lang="en-GB" dirty="0">
                <a:ea typeface="+mn-lt"/>
                <a:cs typeface="+mn-lt"/>
              </a:rPr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8073668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F1B1E-143B-E38E-40C6-9C4134926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RPC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1672C-95ED-B002-FDD7-C75C7AEEC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4170" indent="-337820"/>
            <a:r>
              <a:rPr lang="en-GB">
                <a:cs typeface="Arial"/>
              </a:rPr>
              <a:t>Remote Procedure Call (RPC) is a protocol to communicate with a server over various mediums.</a:t>
            </a:r>
            <a:endParaRPr lang="en-US"/>
          </a:p>
          <a:p>
            <a:pPr marL="344170" indent="-337820"/>
            <a:r>
              <a:rPr lang="en-GB">
                <a:cs typeface="Arial"/>
              </a:rPr>
              <a:t>The one we will use will be 'HTTP'</a:t>
            </a:r>
            <a:endParaRPr lang="en-GB" dirty="0">
              <a:cs typeface="Arial"/>
            </a:endParaRPr>
          </a:p>
          <a:p>
            <a:pPr marL="344170" indent="-337820"/>
            <a:r>
              <a:rPr lang="en-GB">
                <a:cs typeface="Arial"/>
              </a:rPr>
              <a:t>To interact with the blockchain, you need to connect to it </a:t>
            </a:r>
            <a:r>
              <a:rPr lang="en-GB" dirty="0">
                <a:cs typeface="Arial"/>
              </a:rPr>
              <a:t>somehow</a:t>
            </a:r>
          </a:p>
          <a:p>
            <a:pPr marL="344170" indent="-337820"/>
            <a:r>
              <a:rPr lang="en-GB">
                <a:cs typeface="Arial"/>
              </a:rPr>
              <a:t>RPC is one of the many ways to connect with nodes hosting a blockchain</a:t>
            </a:r>
          </a:p>
          <a:p>
            <a:pPr marL="344170" indent="-337820"/>
            <a:r>
              <a:rPr lang="en-GB" dirty="0">
                <a:cs typeface="Arial"/>
              </a:rPr>
              <a:t>The private </a:t>
            </a:r>
            <a:r>
              <a:rPr lang="en-GB" dirty="0" err="1">
                <a:cs typeface="Arial"/>
              </a:rPr>
              <a:t>redroom</a:t>
            </a:r>
            <a:r>
              <a:rPr lang="en-GB" dirty="0">
                <a:cs typeface="Arial"/>
              </a:rPr>
              <a:t> blockchain RPC URL is </a:t>
            </a:r>
            <a:r>
              <a:rPr lang="en-GB" dirty="0">
                <a:cs typeface="Arial"/>
                <a:hlinkClick r:id="rId2"/>
              </a:rPr>
              <a:t>http://blockchain.redroomctf.au</a:t>
            </a:r>
            <a:endParaRPr lang="en-GB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62505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E19B0-49DD-EEE1-6EA9-73830BC12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0000"/>
                </a:solidFill>
                <a:cs typeface="Arial"/>
              </a:rPr>
              <a:t>cast 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CE05A-7C39-3CDD-144A-6627F6391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 dirty="0">
                <a:cs typeface="Arial"/>
              </a:rPr>
              <a:t>With foundry you get a tool called '</a:t>
            </a:r>
            <a:r>
              <a:rPr lang="en-GB" dirty="0">
                <a:solidFill>
                  <a:srgbClr val="FF0000"/>
                </a:solidFill>
                <a:cs typeface="Arial"/>
              </a:rPr>
              <a:t>cast</a:t>
            </a:r>
            <a:r>
              <a:rPr lang="en-GB" dirty="0">
                <a:cs typeface="Arial"/>
              </a:rPr>
              <a:t>' so you can interact with the </a:t>
            </a:r>
            <a:r>
              <a:rPr lang="en-GB">
                <a:cs typeface="Arial"/>
              </a:rPr>
              <a:t>blockchain</a:t>
            </a:r>
          </a:p>
          <a:p>
            <a:pPr marL="344170" indent="-337820"/>
            <a:r>
              <a:rPr lang="en-GB">
                <a:cs typeface="Arial"/>
              </a:rPr>
              <a:t>There are two main ways to interact with it, '</a:t>
            </a:r>
            <a:r>
              <a:rPr lang="en-GB">
                <a:solidFill>
                  <a:srgbClr val="FF0000"/>
                </a:solidFill>
                <a:cs typeface="Arial"/>
              </a:rPr>
              <a:t>call</a:t>
            </a:r>
            <a:r>
              <a:rPr lang="en-GB">
                <a:cs typeface="Arial"/>
              </a:rPr>
              <a:t>' (for </a:t>
            </a:r>
            <a:r>
              <a:rPr lang="en-GB">
                <a:solidFill>
                  <a:srgbClr val="FFC000"/>
                </a:solidFill>
                <a:cs typeface="Arial"/>
              </a:rPr>
              <a:t>view</a:t>
            </a:r>
            <a:r>
              <a:rPr lang="en-GB">
                <a:cs typeface="Arial"/>
              </a:rPr>
              <a:t>/</a:t>
            </a:r>
            <a:r>
              <a:rPr lang="en-GB">
                <a:solidFill>
                  <a:srgbClr val="FFC000"/>
                </a:solidFill>
                <a:cs typeface="Arial"/>
              </a:rPr>
              <a:t>pure</a:t>
            </a:r>
            <a:r>
              <a:rPr lang="en-GB">
                <a:cs typeface="Arial"/>
              </a:rPr>
              <a:t>) and '</a:t>
            </a:r>
            <a:r>
              <a:rPr lang="en-GB">
                <a:solidFill>
                  <a:srgbClr val="FF0000"/>
                </a:solidFill>
                <a:cs typeface="Arial"/>
              </a:rPr>
              <a:t>send</a:t>
            </a:r>
            <a:r>
              <a:rPr lang="en-GB">
                <a:cs typeface="Arial"/>
              </a:rPr>
              <a:t>' for transactions</a:t>
            </a:r>
            <a:endParaRPr lang="en-GB" dirty="0">
              <a:cs typeface="Arial"/>
            </a:endParaRPr>
          </a:p>
          <a:p>
            <a:pPr marL="344170" indent="-337820"/>
            <a:r>
              <a:rPr lang="en-GB">
                <a:cs typeface="Arial"/>
              </a:rPr>
              <a:t>To send a 'call' request, the command is:</a:t>
            </a:r>
          </a:p>
          <a:p>
            <a:pPr marL="344170" indent="-337820"/>
            <a:r>
              <a:rPr lang="en-GB" dirty="0">
                <a:solidFill>
                  <a:srgbClr val="FF0000"/>
                </a:solidFill>
                <a:cs typeface="Arial"/>
              </a:rPr>
              <a:t>cast call &lt;CONTRACT_ADDR&gt; "&lt;FUNC&gt;()" --</a:t>
            </a:r>
            <a:r>
              <a:rPr lang="en-GB" dirty="0" err="1">
                <a:solidFill>
                  <a:srgbClr val="FF0000"/>
                </a:solidFill>
                <a:cs typeface="Arial"/>
              </a:rPr>
              <a:t>rpc-url</a:t>
            </a:r>
            <a:r>
              <a:rPr lang="en-GB" dirty="0">
                <a:solidFill>
                  <a:srgbClr val="FF0000"/>
                </a:solidFill>
                <a:cs typeface="Arial"/>
              </a:rPr>
              <a:t> &lt;URL&gt;</a:t>
            </a:r>
          </a:p>
        </p:txBody>
      </p:sp>
    </p:spTree>
    <p:extLst>
      <p:ext uri="{BB962C8B-B14F-4D97-AF65-F5344CB8AC3E}">
        <p14:creationId xmlns:p14="http://schemas.microsoft.com/office/powerpoint/2010/main" val="6605194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6E57A-2976-BE91-501D-9F44E255B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0000"/>
                </a:solidFill>
                <a:cs typeface="Arial"/>
              </a:rPr>
              <a:t>cast send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2581C-E77C-1E2B-23E8-9F8565E1A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>
                <a:solidFill>
                  <a:srgbClr val="FF0000"/>
                </a:solidFill>
                <a:cs typeface="Arial"/>
              </a:rPr>
              <a:t>send </a:t>
            </a:r>
            <a:r>
              <a:rPr lang="en-GB">
                <a:cs typeface="Arial"/>
              </a:rPr>
              <a:t>is for Transactions that will be bundled into blocks</a:t>
            </a:r>
          </a:p>
          <a:p>
            <a:pPr marL="344170" indent="-337820"/>
            <a:r>
              <a:rPr lang="en-GB">
                <a:cs typeface="Arial"/>
              </a:rPr>
              <a:t>As all sends need gas and to be signed, you need a private key</a:t>
            </a:r>
          </a:p>
          <a:p>
            <a:pPr marL="344170" indent="-337820"/>
            <a:r>
              <a:rPr lang="en-GB">
                <a:cs typeface="Arial"/>
              </a:rPr>
              <a:t>Syntax is similar to </a:t>
            </a:r>
            <a:r>
              <a:rPr lang="en-GB">
                <a:solidFill>
                  <a:srgbClr val="FF0000"/>
                </a:solidFill>
                <a:cs typeface="Arial"/>
              </a:rPr>
              <a:t>call</a:t>
            </a:r>
            <a:r>
              <a:rPr lang="en-GB">
                <a:cs typeface="Arial"/>
              </a:rPr>
              <a:t>:</a:t>
            </a:r>
          </a:p>
          <a:p>
            <a:pPr marL="344170" indent="-337820"/>
            <a:r>
              <a:rPr lang="en-GB" dirty="0">
                <a:solidFill>
                  <a:srgbClr val="FF0000"/>
                </a:solidFill>
                <a:cs typeface="Arial"/>
              </a:rPr>
              <a:t>cast send &lt;ADDR&gt; "&lt;FUNC&gt;()" --</a:t>
            </a:r>
            <a:r>
              <a:rPr lang="en-GB" dirty="0" err="1">
                <a:solidFill>
                  <a:srgbClr val="FF0000"/>
                </a:solidFill>
                <a:cs typeface="Arial"/>
              </a:rPr>
              <a:t>rpc-url</a:t>
            </a:r>
            <a:r>
              <a:rPr lang="en-GB" dirty="0">
                <a:solidFill>
                  <a:srgbClr val="FF0000"/>
                </a:solidFill>
                <a:cs typeface="Arial"/>
              </a:rPr>
              <a:t> &lt;URL&gt; --private-key &lt;PK&gt;</a:t>
            </a:r>
          </a:p>
          <a:p>
            <a:pPr marL="344170" indent="-337820"/>
            <a:r>
              <a:rPr lang="en-GB">
                <a:cs typeface="Arial"/>
              </a:rPr>
              <a:t>This means every </a:t>
            </a:r>
            <a:r>
              <a:rPr lang="en-GB">
                <a:solidFill>
                  <a:srgbClr val="FF0000"/>
                </a:solidFill>
                <a:cs typeface="Arial"/>
              </a:rPr>
              <a:t>send </a:t>
            </a:r>
            <a:r>
              <a:rPr lang="en-GB">
                <a:cs typeface="Arial"/>
              </a:rPr>
              <a:t>costs money</a:t>
            </a:r>
            <a:endParaRPr lang="en-GB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432376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17491-50A5-75D3-B5A5-68FAB24C2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0000"/>
                </a:solidFill>
                <a:cs typeface="Arial"/>
              </a:rPr>
              <a:t>cast send </a:t>
            </a:r>
            <a:r>
              <a:rPr lang="en-GB">
                <a:cs typeface="Arial"/>
              </a:rPr>
              <a:t>with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DCF57-61FA-8935-178F-2DD1CE3C2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>
                <a:cs typeface="Arial"/>
              </a:rPr>
              <a:t>For functions with arguments, </a:t>
            </a:r>
            <a:r>
              <a:rPr lang="en-GB">
                <a:solidFill>
                  <a:srgbClr val="FF0000"/>
                </a:solidFill>
                <a:cs typeface="Arial"/>
              </a:rPr>
              <a:t>send </a:t>
            </a:r>
            <a:r>
              <a:rPr lang="en-GB">
                <a:cs typeface="Arial"/>
              </a:rPr>
              <a:t>can also send the arguments</a:t>
            </a:r>
          </a:p>
          <a:p>
            <a:pPr marL="344170" indent="-337820"/>
            <a:r>
              <a:rPr lang="en-GB" dirty="0">
                <a:cs typeface="Arial"/>
              </a:rPr>
              <a:t>For this, in the </a:t>
            </a:r>
            <a:r>
              <a:rPr lang="en-GB">
                <a:cs typeface="Arial"/>
              </a:rPr>
              <a:t>brackets the </a:t>
            </a:r>
            <a:r>
              <a:rPr lang="en-GB">
                <a:solidFill>
                  <a:srgbClr val="FFFFFF"/>
                </a:solidFill>
                <a:cs typeface="Arial"/>
              </a:rPr>
              <a:t>type </a:t>
            </a:r>
            <a:r>
              <a:rPr lang="en-GB">
                <a:cs typeface="Arial"/>
              </a:rPr>
              <a:t>is included, then the </a:t>
            </a:r>
            <a:r>
              <a:rPr lang="en-GB">
                <a:solidFill>
                  <a:srgbClr val="FFFFFF"/>
                </a:solidFill>
                <a:cs typeface="Arial"/>
              </a:rPr>
              <a:t>values </a:t>
            </a:r>
            <a:r>
              <a:rPr lang="en-GB">
                <a:cs typeface="Arial"/>
              </a:rPr>
              <a:t>after the signature</a:t>
            </a:r>
          </a:p>
          <a:p>
            <a:pPr marL="344170" indent="-337820"/>
            <a:r>
              <a:rPr lang="en-GB">
                <a:cs typeface="Arial"/>
              </a:rPr>
              <a:t>The syntax is:</a:t>
            </a:r>
            <a:endParaRPr lang="en-GB" dirty="0">
              <a:cs typeface="Arial"/>
            </a:endParaRPr>
          </a:p>
          <a:p>
            <a:pPr marL="344170" indent="-337820"/>
            <a:r>
              <a:rPr lang="en-GB" dirty="0">
                <a:solidFill>
                  <a:srgbClr val="FF0000"/>
                </a:solidFill>
                <a:cs typeface="Arial"/>
              </a:rPr>
              <a:t>cast send &lt;ADDR&gt; "&lt;FUNC&gt;(&lt;TYPE&gt;,&lt;TYPE&gt;)" &lt;Arg1&gt; &lt;Arg2&gt; --</a:t>
            </a:r>
            <a:r>
              <a:rPr lang="en-GB" dirty="0" err="1">
                <a:solidFill>
                  <a:srgbClr val="FF0000"/>
                </a:solidFill>
                <a:cs typeface="Arial"/>
              </a:rPr>
              <a:t>rpc-url</a:t>
            </a:r>
            <a:r>
              <a:rPr lang="en-GB" dirty="0">
                <a:solidFill>
                  <a:srgbClr val="FF0000"/>
                </a:solidFill>
                <a:cs typeface="Arial"/>
              </a:rPr>
              <a:t> &lt;URL&gt; --private-key&lt;PK&gt;</a:t>
            </a:r>
            <a:endParaRPr lang="en-GB" dirty="0">
              <a:cs typeface="Arial"/>
            </a:endParaRPr>
          </a:p>
          <a:p>
            <a:pPr marL="344170" indent="-337820"/>
            <a:endParaRPr lang="en-GB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93305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CC06A-530A-78AD-AEA5-CC2C394784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Break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A3CCA5-52C1-2F39-1FA5-C2A7B954F5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72490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ADD38-1EF3-7DA2-E86A-2428C6C7C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0000"/>
                </a:solidFill>
                <a:cs typeface="Arial"/>
              </a:rPr>
              <a:t>cast balance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74BDC-1808-9154-AC70-46E44AA01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 dirty="0">
                <a:cs typeface="Arial"/>
              </a:rPr>
              <a:t>Foundry lets one see the balance of any account, whether it be an </a:t>
            </a:r>
            <a:r>
              <a:rPr lang="en-GB">
                <a:cs typeface="Arial"/>
              </a:rPr>
              <a:t>EOA, or a contract</a:t>
            </a:r>
          </a:p>
          <a:p>
            <a:pPr marL="344170" indent="-337820"/>
            <a:r>
              <a:rPr lang="en-GB">
                <a:cs typeface="Arial"/>
              </a:rPr>
              <a:t>The balance is displayed in Wei</a:t>
            </a:r>
            <a:endParaRPr lang="en-GB" dirty="0">
              <a:cs typeface="Arial"/>
            </a:endParaRPr>
          </a:p>
          <a:p>
            <a:pPr marL="344170" indent="-337820"/>
            <a:r>
              <a:rPr lang="en-GB">
                <a:cs typeface="Arial"/>
              </a:rPr>
              <a:t>The syntax is:</a:t>
            </a:r>
          </a:p>
          <a:p>
            <a:pPr marL="344170" indent="-337820"/>
            <a:r>
              <a:rPr lang="en-GB" dirty="0">
                <a:solidFill>
                  <a:srgbClr val="FF0000"/>
                </a:solidFill>
                <a:cs typeface="Arial"/>
              </a:rPr>
              <a:t>cast balance &lt;ADDR&gt; --</a:t>
            </a:r>
            <a:r>
              <a:rPr lang="en-GB" dirty="0" err="1">
                <a:solidFill>
                  <a:srgbClr val="FF0000"/>
                </a:solidFill>
                <a:cs typeface="Arial"/>
              </a:rPr>
              <a:t>rpc-url</a:t>
            </a:r>
            <a:r>
              <a:rPr lang="en-GB" dirty="0">
                <a:solidFill>
                  <a:srgbClr val="FF0000"/>
                </a:solidFill>
                <a:cs typeface="Arial"/>
              </a:rPr>
              <a:t> &lt;URL&gt;</a:t>
            </a:r>
          </a:p>
        </p:txBody>
      </p:sp>
    </p:spTree>
    <p:extLst>
      <p:ext uri="{BB962C8B-B14F-4D97-AF65-F5344CB8AC3E}">
        <p14:creationId xmlns:p14="http://schemas.microsoft.com/office/powerpoint/2010/main" val="27441243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0D1DB-76EE-4602-D428-B667F494C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Arial"/>
              </a:rPr>
              <a:t>Contracts </a:t>
            </a:r>
            <a:r>
              <a:rPr lang="en-GB">
                <a:cs typeface="Arial"/>
              </a:rPr>
              <a:t>viewing account's balance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CE505-BB1B-3A94-AE99-E8B185A66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>
                <a:cs typeface="Arial"/>
              </a:rPr>
              <a:t>Just as there is the </a:t>
            </a:r>
            <a:r>
              <a:rPr lang="en-GB">
                <a:solidFill>
                  <a:srgbClr val="FFFFFF"/>
                </a:solidFill>
                <a:cs typeface="Arial"/>
              </a:rPr>
              <a:t>'</a:t>
            </a:r>
            <a:r>
              <a:rPr lang="en-GB">
                <a:solidFill>
                  <a:srgbClr val="FFC000"/>
                </a:solidFill>
                <a:cs typeface="Arial"/>
              </a:rPr>
              <a:t>uint256</a:t>
            </a:r>
            <a:r>
              <a:rPr lang="en-GB">
                <a:solidFill>
                  <a:srgbClr val="FFFFFF"/>
                </a:solidFill>
                <a:cs typeface="Arial"/>
              </a:rPr>
              <a:t>' </a:t>
            </a:r>
            <a:r>
              <a:rPr lang="en-GB">
                <a:cs typeface="Arial"/>
              </a:rPr>
              <a:t>type, there is also the </a:t>
            </a:r>
            <a:r>
              <a:rPr lang="en-GB">
                <a:solidFill>
                  <a:srgbClr val="FFFFFF"/>
                </a:solidFill>
                <a:cs typeface="Arial"/>
              </a:rPr>
              <a:t>'</a:t>
            </a:r>
            <a:r>
              <a:rPr lang="en-GB">
                <a:solidFill>
                  <a:srgbClr val="FFC000"/>
                </a:solidFill>
                <a:cs typeface="Arial"/>
              </a:rPr>
              <a:t>address</a:t>
            </a:r>
            <a:r>
              <a:rPr lang="en-GB">
                <a:solidFill>
                  <a:srgbClr val="FFFFFF"/>
                </a:solidFill>
                <a:cs typeface="Arial"/>
              </a:rPr>
              <a:t>' </a:t>
            </a:r>
            <a:r>
              <a:rPr lang="en-GB">
                <a:cs typeface="Arial"/>
              </a:rPr>
              <a:t>type which stores an accounts address</a:t>
            </a:r>
          </a:p>
          <a:p>
            <a:pPr marL="344170" indent="-337820"/>
            <a:r>
              <a:rPr lang="en-GB">
                <a:cs typeface="Arial"/>
              </a:rPr>
              <a:t>The address of a contract can be programmatically by converting '</a:t>
            </a:r>
            <a:r>
              <a:rPr lang="en-GB">
                <a:solidFill>
                  <a:srgbClr val="FFC000"/>
                </a:solidFill>
                <a:cs typeface="Arial"/>
              </a:rPr>
              <a:t>this</a:t>
            </a:r>
            <a:r>
              <a:rPr lang="en-GB">
                <a:cs typeface="Arial"/>
              </a:rPr>
              <a:t>' into an address so: '</a:t>
            </a:r>
            <a:r>
              <a:rPr lang="en-GB">
                <a:solidFill>
                  <a:srgbClr val="FFC000"/>
                </a:solidFill>
                <a:cs typeface="Arial"/>
              </a:rPr>
              <a:t>address(this)</a:t>
            </a:r>
            <a:r>
              <a:rPr lang="en-GB">
                <a:cs typeface="Arial"/>
              </a:rPr>
              <a:t>'</a:t>
            </a:r>
          </a:p>
          <a:p>
            <a:pPr marL="344170" indent="-337820"/>
            <a:r>
              <a:rPr lang="en-GB" dirty="0">
                <a:cs typeface="Arial"/>
              </a:rPr>
              <a:t>The address type has 6 attributes, one is '</a:t>
            </a:r>
            <a:r>
              <a:rPr lang="en-GB" dirty="0">
                <a:solidFill>
                  <a:srgbClr val="FFC000"/>
                </a:solidFill>
                <a:cs typeface="Arial"/>
              </a:rPr>
              <a:t>balance</a:t>
            </a:r>
            <a:r>
              <a:rPr lang="en-GB" dirty="0">
                <a:cs typeface="Arial"/>
              </a:rPr>
              <a:t>' to get that </a:t>
            </a:r>
            <a:r>
              <a:rPr lang="en-GB">
                <a:cs typeface="Arial"/>
              </a:rPr>
              <a:t>address's balance in Wei</a:t>
            </a:r>
          </a:p>
          <a:p>
            <a:pPr marL="344170" indent="-337820"/>
            <a:r>
              <a:rPr lang="en-GB" dirty="0">
                <a:cs typeface="Arial"/>
              </a:rPr>
              <a:t>So a contract can see its own balance with '</a:t>
            </a:r>
            <a:r>
              <a:rPr lang="en-GB" dirty="0">
                <a:solidFill>
                  <a:srgbClr val="FFC000"/>
                </a:solidFill>
                <a:cs typeface="Arial"/>
              </a:rPr>
              <a:t>address(this).balance</a:t>
            </a:r>
            <a:r>
              <a:rPr lang="en-GB" dirty="0">
                <a:cs typeface="Arial"/>
              </a:rPr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2041099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FB4A8-8A8C-D360-5893-91F3F080A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Community Chest</a:t>
            </a:r>
            <a:endParaRPr lang="en-GB"/>
          </a:p>
        </p:txBody>
      </p:sp>
      <p:pic>
        <p:nvPicPr>
          <p:cNvPr id="4" name="Content Placeholder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C45D0114-E1FA-5F39-5B9A-23427041D7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599" y="2988988"/>
            <a:ext cx="7796540" cy="212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630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82E99-A035-994F-34E6-A356ABF12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C000"/>
                </a:solidFill>
                <a:cs typeface="Arial"/>
              </a:rPr>
              <a:t>payable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49D7E-AABA-0470-8DF4-C2CB85213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>
                <a:cs typeface="Arial"/>
              </a:rPr>
              <a:t>To give money to a contract, functions can be given the modifier '</a:t>
            </a:r>
            <a:r>
              <a:rPr lang="en-GB">
                <a:solidFill>
                  <a:srgbClr val="FFC000"/>
                </a:solidFill>
                <a:cs typeface="Arial"/>
              </a:rPr>
              <a:t>payable</a:t>
            </a:r>
            <a:r>
              <a:rPr lang="en-GB">
                <a:cs typeface="Arial"/>
              </a:rPr>
              <a:t>'</a:t>
            </a:r>
          </a:p>
          <a:p>
            <a:pPr marL="344170" indent="-337820"/>
            <a:r>
              <a:rPr lang="en-GB">
                <a:cs typeface="Arial"/>
              </a:rPr>
              <a:t>This means that the function accepts payment from whoever called it at whatever amount the caller wants</a:t>
            </a:r>
            <a:endParaRPr lang="en-GB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741092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B3B31-6F08-D89D-1E9E-E31AF6F6A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Community Chest v2</a:t>
            </a:r>
            <a:endParaRPr lang="en-GB" dirty="0"/>
          </a:p>
        </p:txBody>
      </p:sp>
      <p:pic>
        <p:nvPicPr>
          <p:cNvPr id="4" name="Content Placeholder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18E814E5-E1BA-A707-2402-E5BA4B504A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599" y="2737841"/>
            <a:ext cx="7796540" cy="262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5429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1B010-9B16-6650-19B8-3252603F9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0000"/>
                </a:solidFill>
                <a:cs typeface="Arial"/>
              </a:rPr>
              <a:t>cast send </a:t>
            </a:r>
            <a:r>
              <a:rPr lang="en-GB">
                <a:cs typeface="Arial"/>
              </a:rPr>
              <a:t>with 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A85B2-C463-915B-3A34-F8A68C95A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>
                <a:cs typeface="Arial"/>
              </a:rPr>
              <a:t>To send a payable function ether, any send can just add '</a:t>
            </a:r>
            <a:r>
              <a:rPr lang="en-GB">
                <a:solidFill>
                  <a:srgbClr val="FF0000"/>
                </a:solidFill>
                <a:cs typeface="Arial"/>
              </a:rPr>
              <a:t>--value</a:t>
            </a:r>
            <a:r>
              <a:rPr lang="en-GB">
                <a:cs typeface="Arial"/>
              </a:rPr>
              <a:t>' </a:t>
            </a:r>
          </a:p>
          <a:p>
            <a:pPr marL="344170" indent="-337820"/>
            <a:r>
              <a:rPr lang="en-GB" dirty="0">
                <a:cs typeface="Arial"/>
              </a:rPr>
              <a:t>Afterwards, the amount of Wei can be specified, or the </a:t>
            </a:r>
            <a:r>
              <a:rPr lang="en-GB">
                <a:cs typeface="Arial"/>
              </a:rPr>
              <a:t>amount</a:t>
            </a:r>
            <a:r>
              <a:rPr lang="en-GB" dirty="0">
                <a:cs typeface="Arial"/>
              </a:rPr>
              <a:t> of </a:t>
            </a:r>
            <a:r>
              <a:rPr lang="en-GB">
                <a:cs typeface="Arial"/>
              </a:rPr>
              <a:t>ether followed by the word 'ether'</a:t>
            </a:r>
            <a:endParaRPr lang="en-GB" dirty="0">
              <a:cs typeface="Arial"/>
            </a:endParaRPr>
          </a:p>
          <a:p>
            <a:pPr marL="344170" indent="-337820"/>
            <a:r>
              <a:rPr lang="en-GB">
                <a:cs typeface="Arial"/>
              </a:rPr>
              <a:t>Syntax is:</a:t>
            </a:r>
          </a:p>
          <a:p>
            <a:pPr marL="344170" indent="-337820"/>
            <a:r>
              <a:rPr lang="en-GB" dirty="0">
                <a:solidFill>
                  <a:srgbClr val="FF0000"/>
                </a:solidFill>
                <a:cs typeface="Arial"/>
              </a:rPr>
              <a:t>cast send &lt;ADDR&gt; --value &lt;Amount&gt;[?ether] "&lt;Func&gt;(&lt;</a:t>
            </a:r>
            <a:r>
              <a:rPr lang="en-GB" dirty="0" err="1">
                <a:solidFill>
                  <a:srgbClr val="FF0000"/>
                </a:solidFill>
                <a:cs typeface="Arial"/>
              </a:rPr>
              <a:t>Args</a:t>
            </a:r>
            <a:r>
              <a:rPr lang="en-GB" dirty="0">
                <a:solidFill>
                  <a:srgbClr val="FF0000"/>
                </a:solidFill>
                <a:cs typeface="Arial"/>
              </a:rPr>
              <a:t>&gt;)" &lt;</a:t>
            </a:r>
            <a:r>
              <a:rPr lang="en-GB" dirty="0" err="1">
                <a:solidFill>
                  <a:srgbClr val="FF0000"/>
                </a:solidFill>
                <a:cs typeface="Arial"/>
              </a:rPr>
              <a:t>Args</a:t>
            </a:r>
            <a:r>
              <a:rPr lang="en-GB" dirty="0">
                <a:solidFill>
                  <a:srgbClr val="FF0000"/>
                </a:solidFill>
                <a:cs typeface="Arial"/>
              </a:rPr>
              <a:t>&gt; --</a:t>
            </a:r>
            <a:r>
              <a:rPr lang="en-GB" dirty="0" err="1">
                <a:solidFill>
                  <a:srgbClr val="FF0000"/>
                </a:solidFill>
                <a:cs typeface="Arial"/>
              </a:rPr>
              <a:t>rpc-url</a:t>
            </a:r>
            <a:r>
              <a:rPr lang="en-GB" dirty="0">
                <a:solidFill>
                  <a:srgbClr val="FF0000"/>
                </a:solidFill>
                <a:cs typeface="Arial"/>
              </a:rPr>
              <a:t> &lt;URL&gt; --private-key &lt;PK&gt;</a:t>
            </a:r>
          </a:p>
          <a:p>
            <a:pPr marL="344170" indent="-337820"/>
            <a:r>
              <a:rPr lang="en-GB">
                <a:cs typeface="Arial"/>
              </a:rPr>
              <a:t>It can also be sent to another account by specifying their public key as the address, without sending data</a:t>
            </a:r>
            <a:endParaRPr lang="en-GB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63888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838B3-6F0E-3E1E-D549-6C04A0062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C000"/>
                </a:solidFill>
                <a:cs typeface="Arial"/>
              </a:rPr>
              <a:t>require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2EBE1-A86E-D8BF-61DB-034D7B7DE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 dirty="0">
                <a:cs typeface="Arial"/>
              </a:rPr>
              <a:t>There is a function called '</a:t>
            </a:r>
            <a:r>
              <a:rPr lang="en-GB" dirty="0">
                <a:solidFill>
                  <a:srgbClr val="FFC000"/>
                </a:solidFill>
                <a:cs typeface="Arial"/>
              </a:rPr>
              <a:t>require</a:t>
            </a:r>
            <a:r>
              <a:rPr lang="en-GB">
                <a:cs typeface="Arial"/>
              </a:rPr>
              <a:t>' which when passed a false bool, causes the transaction to fail</a:t>
            </a:r>
          </a:p>
          <a:p>
            <a:pPr marL="344170" indent="-337820"/>
            <a:r>
              <a:rPr lang="en-GB">
                <a:solidFill>
                  <a:srgbClr val="FFC000"/>
                </a:solidFill>
                <a:cs typeface="Arial"/>
              </a:rPr>
              <a:t>require </a:t>
            </a:r>
            <a:r>
              <a:rPr lang="en-GB">
                <a:cs typeface="Arial"/>
              </a:rPr>
              <a:t>has three overloads:</a:t>
            </a:r>
          </a:p>
          <a:p>
            <a:pPr marL="344170" indent="-337820"/>
            <a:r>
              <a:rPr lang="en-GB">
                <a:solidFill>
                  <a:srgbClr val="FFC000"/>
                </a:solidFill>
                <a:cs typeface="Arial"/>
              </a:rPr>
              <a:t>require(bool)</a:t>
            </a:r>
            <a:r>
              <a:rPr lang="en-GB">
                <a:cs typeface="Arial"/>
              </a:rPr>
              <a:t> ​&lt;- revert with no error message</a:t>
            </a:r>
          </a:p>
          <a:p>
            <a:pPr marL="344170" indent="-337820"/>
            <a:r>
              <a:rPr lang="en-GB">
                <a:solidFill>
                  <a:srgbClr val="FFC000"/>
                </a:solidFill>
                <a:cs typeface="Arial"/>
              </a:rPr>
              <a:t>require(bool, string)</a:t>
            </a:r>
            <a:r>
              <a:rPr lang="en-GB">
                <a:cs typeface="Arial"/>
              </a:rPr>
              <a:t> ​&lt;- revert with the string as the error </a:t>
            </a:r>
            <a:r>
              <a:rPr lang="en-GB" dirty="0">
                <a:cs typeface="Arial"/>
              </a:rPr>
              <a:t>message</a:t>
            </a:r>
          </a:p>
          <a:p>
            <a:pPr marL="344170" indent="-337820"/>
            <a:r>
              <a:rPr lang="en-GB" dirty="0">
                <a:solidFill>
                  <a:srgbClr val="FFC000"/>
                </a:solidFill>
                <a:cs typeface="Arial"/>
              </a:rPr>
              <a:t>require(bool, error)</a:t>
            </a:r>
            <a:r>
              <a:rPr lang="en-GB" dirty="0">
                <a:cs typeface="Arial"/>
              </a:rPr>
              <a:t> &lt;- </a:t>
            </a:r>
            <a:r>
              <a:rPr lang="en-GB">
                <a:cs typeface="Arial"/>
              </a:rPr>
              <a:t>revert</a:t>
            </a:r>
            <a:r>
              <a:rPr lang="en-GB" dirty="0">
                <a:cs typeface="Arial"/>
              </a:rPr>
              <a:t> with the custom error</a:t>
            </a:r>
          </a:p>
        </p:txBody>
      </p:sp>
    </p:spTree>
    <p:extLst>
      <p:ext uri="{BB962C8B-B14F-4D97-AF65-F5344CB8AC3E}">
        <p14:creationId xmlns:p14="http://schemas.microsoft.com/office/powerpoint/2010/main" val="41357827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554EC-96ED-D2EA-77A3-36630335E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rgbClr val="FFC000"/>
                </a:solidFill>
                <a:cs typeface="Arial"/>
              </a:rPr>
              <a:t>msg.value</a:t>
            </a:r>
            <a:endParaRPr lang="en-GB" dirty="0" err="1"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13C17-ACE9-1B0C-B240-024669B7E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 dirty="0">
                <a:cs typeface="Arial"/>
              </a:rPr>
              <a:t>A contract can access data about the message that was sent to it using '</a:t>
            </a:r>
            <a:r>
              <a:rPr lang="en-GB" dirty="0" err="1">
                <a:solidFill>
                  <a:srgbClr val="FFC000"/>
                </a:solidFill>
                <a:cs typeface="Arial"/>
              </a:rPr>
              <a:t>msg</a:t>
            </a:r>
            <a:r>
              <a:rPr lang="en-GB" dirty="0">
                <a:cs typeface="Arial"/>
              </a:rPr>
              <a:t>'</a:t>
            </a:r>
          </a:p>
          <a:p>
            <a:pPr marL="344170" indent="-337820"/>
            <a:r>
              <a:rPr lang="en-GB" dirty="0">
                <a:cs typeface="Arial"/>
              </a:rPr>
              <a:t>One of these attributes is '</a:t>
            </a:r>
            <a:r>
              <a:rPr lang="en-GB" dirty="0" err="1">
                <a:solidFill>
                  <a:srgbClr val="FFC000"/>
                </a:solidFill>
                <a:cs typeface="Arial"/>
              </a:rPr>
              <a:t>msg.value</a:t>
            </a:r>
            <a:r>
              <a:rPr lang="en-GB" dirty="0">
                <a:cs typeface="Arial"/>
              </a:rPr>
              <a:t>', which stores the amount of Wei that the message has sent to the contract</a:t>
            </a:r>
          </a:p>
        </p:txBody>
      </p:sp>
    </p:spTree>
    <p:extLst>
      <p:ext uri="{BB962C8B-B14F-4D97-AF65-F5344CB8AC3E}">
        <p14:creationId xmlns:p14="http://schemas.microsoft.com/office/powerpoint/2010/main" val="2412055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0FF56-FE1F-C759-2994-77DC756DB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Community Chest v3</a:t>
            </a:r>
            <a:endParaRPr lang="en-GB"/>
          </a:p>
        </p:txBody>
      </p:sp>
      <p:pic>
        <p:nvPicPr>
          <p:cNvPr id="4" name="Content Placeholder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3E935B47-90AC-6DDC-F43B-1F5CC16D45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599" y="2480187"/>
            <a:ext cx="7796540" cy="3141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221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01046-5978-B402-2223-89385D011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Community Chest v4</a:t>
            </a:r>
            <a:endParaRPr lang="en-GB"/>
          </a:p>
        </p:txBody>
      </p:sp>
      <p:pic>
        <p:nvPicPr>
          <p:cNvPr id="4" name="Content Placeholder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1496A24D-977B-A59B-BE69-2929E99F89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5828" y="2482748"/>
            <a:ext cx="8834311" cy="307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7170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9636A-DF81-1915-FD21-84687EC359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Deploying Locally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26F5B0-0DB4-3809-8911-01A828DCAB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63751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A5A31-A158-1556-5F2C-1B04037A9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0000"/>
                </a:solidFill>
                <a:cs typeface="Arial"/>
              </a:rPr>
              <a:t>anvil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5E6C6-7982-FD86-B874-583FFDD6B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>
                <a:cs typeface="Arial"/>
              </a:rPr>
              <a:t>Foundry provides a tool to host your own small-scale blockchain network called </a:t>
            </a:r>
            <a:r>
              <a:rPr lang="en-GB">
                <a:solidFill>
                  <a:srgbClr val="FF0000"/>
                </a:solidFill>
                <a:cs typeface="Arial"/>
              </a:rPr>
              <a:t>anvil</a:t>
            </a:r>
          </a:p>
          <a:p>
            <a:pPr marL="344170" indent="-337820"/>
            <a:r>
              <a:rPr lang="en-GB">
                <a:cs typeface="Arial"/>
              </a:rPr>
              <a:t>You run it by just running '</a:t>
            </a:r>
            <a:r>
              <a:rPr lang="en-GB">
                <a:solidFill>
                  <a:srgbClr val="FF0000"/>
                </a:solidFill>
                <a:cs typeface="Arial"/>
              </a:rPr>
              <a:t>anvil</a:t>
            </a:r>
            <a:r>
              <a:rPr lang="en-GB">
                <a:cs typeface="Arial"/>
              </a:rPr>
              <a:t>'</a:t>
            </a:r>
          </a:p>
          <a:p>
            <a:pPr marL="344170" indent="-337820"/>
            <a:r>
              <a:rPr lang="en-GB">
                <a:cs typeface="Arial"/>
              </a:rPr>
              <a:t>If you want to specify the port you can with '</a:t>
            </a:r>
            <a:r>
              <a:rPr lang="en-GB">
                <a:solidFill>
                  <a:srgbClr val="FF0000"/>
                </a:solidFill>
                <a:cs typeface="Arial"/>
              </a:rPr>
              <a:t>-p</a:t>
            </a:r>
            <a:r>
              <a:rPr lang="en-GB">
                <a:cs typeface="Arial"/>
              </a:rPr>
              <a:t>', the default is port </a:t>
            </a:r>
            <a:r>
              <a:rPr lang="en-GB">
                <a:solidFill>
                  <a:srgbClr val="FF0000"/>
                </a:solidFill>
                <a:cs typeface="Arial"/>
              </a:rPr>
              <a:t>8545</a:t>
            </a:r>
          </a:p>
          <a:p>
            <a:pPr marL="344170" indent="-337820"/>
            <a:endParaRPr lang="en-GB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48590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431C1-7EE4-52E5-1971-D62E5D8DC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0000"/>
                </a:solidFill>
                <a:cs typeface="Arial"/>
              </a:rPr>
              <a:t>-a --balance -m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BD613-C030-D591-12DE-2021D5FCF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 dirty="0">
                <a:cs typeface="Arial"/>
              </a:rPr>
              <a:t>By </a:t>
            </a:r>
            <a:r>
              <a:rPr lang="en-GB">
                <a:cs typeface="Arial"/>
              </a:rPr>
              <a:t>default, </a:t>
            </a:r>
            <a:r>
              <a:rPr lang="en-GB">
                <a:solidFill>
                  <a:srgbClr val="FF0000"/>
                </a:solidFill>
                <a:cs typeface="Arial"/>
              </a:rPr>
              <a:t>anvil </a:t>
            </a:r>
            <a:r>
              <a:rPr lang="en-GB">
                <a:cs typeface="Arial"/>
              </a:rPr>
              <a:t>creates 10 funded accounts the amount can be </a:t>
            </a:r>
            <a:r>
              <a:rPr lang="en-GB" dirty="0">
                <a:cs typeface="Arial"/>
              </a:rPr>
              <a:t>changed with '</a:t>
            </a:r>
            <a:r>
              <a:rPr lang="en-GB" dirty="0">
                <a:solidFill>
                  <a:srgbClr val="FF0000"/>
                </a:solidFill>
                <a:cs typeface="Arial"/>
              </a:rPr>
              <a:t>-a</a:t>
            </a:r>
            <a:r>
              <a:rPr lang="en-GB" dirty="0">
                <a:cs typeface="Arial"/>
              </a:rPr>
              <a:t>' to be any number</a:t>
            </a:r>
          </a:p>
          <a:p>
            <a:pPr marL="344170" indent="-337820"/>
            <a:r>
              <a:rPr lang="en-GB" dirty="0">
                <a:cs typeface="Arial"/>
              </a:rPr>
              <a:t>By </a:t>
            </a:r>
            <a:r>
              <a:rPr lang="en-GB">
                <a:cs typeface="Arial"/>
              </a:rPr>
              <a:t>default, each funded account gets 10 000 ETH, this can be set with '</a:t>
            </a:r>
            <a:r>
              <a:rPr lang="en-GB">
                <a:solidFill>
                  <a:srgbClr val="FF0000"/>
                </a:solidFill>
                <a:cs typeface="Arial"/>
              </a:rPr>
              <a:t>--balance</a:t>
            </a:r>
            <a:r>
              <a:rPr lang="en-GB" dirty="0">
                <a:cs typeface="Arial"/>
              </a:rPr>
              <a:t>'</a:t>
            </a:r>
          </a:p>
          <a:p>
            <a:pPr marL="344170" indent="-337820"/>
            <a:r>
              <a:rPr lang="en-GB" dirty="0">
                <a:cs typeface="Arial"/>
              </a:rPr>
              <a:t>By </a:t>
            </a:r>
            <a:r>
              <a:rPr lang="en-GB">
                <a:cs typeface="Arial"/>
              </a:rPr>
              <a:t>default,</a:t>
            </a:r>
            <a:r>
              <a:rPr lang="en-GB" dirty="0">
                <a:cs typeface="Arial"/>
              </a:rPr>
              <a:t> all the public and private keys are generated with the same seed phrase/</a:t>
            </a:r>
            <a:r>
              <a:rPr lang="en-GB" dirty="0">
                <a:solidFill>
                  <a:srgbClr val="FFFFFF"/>
                </a:solidFill>
                <a:cs typeface="Arial"/>
              </a:rPr>
              <a:t>mnemonic</a:t>
            </a:r>
            <a:r>
              <a:rPr lang="en-GB" dirty="0">
                <a:cs typeface="Arial"/>
              </a:rPr>
              <a:t>, this can be custom set with '</a:t>
            </a:r>
            <a:r>
              <a:rPr lang="en-GB" dirty="0">
                <a:solidFill>
                  <a:srgbClr val="FF0000"/>
                </a:solidFill>
                <a:cs typeface="Arial"/>
              </a:rPr>
              <a:t>-m</a:t>
            </a:r>
            <a:r>
              <a:rPr lang="en-GB" dirty="0">
                <a:cs typeface="Arial"/>
              </a:rPr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39961202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9CE94-15A3-4920-D89F-63C5C03C8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0000"/>
                </a:solidFill>
                <a:cs typeface="Arial"/>
              </a:rPr>
              <a:t>forge create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D71A5-A16A-7FD1-09E3-D4AECB9CB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 dirty="0">
                <a:cs typeface="Arial"/>
              </a:rPr>
              <a:t>It is useless to have an </a:t>
            </a:r>
            <a:r>
              <a:rPr lang="en-GB">
                <a:cs typeface="Arial"/>
              </a:rPr>
              <a:t>empty blockchain network, to deploy contracts to the network, then '</a:t>
            </a:r>
            <a:r>
              <a:rPr lang="en-GB">
                <a:solidFill>
                  <a:srgbClr val="FF0000"/>
                </a:solidFill>
                <a:cs typeface="Arial"/>
              </a:rPr>
              <a:t>forge create</a:t>
            </a:r>
            <a:r>
              <a:rPr lang="en-GB">
                <a:cs typeface="Arial"/>
              </a:rPr>
              <a:t>' command can be used</a:t>
            </a:r>
          </a:p>
          <a:p>
            <a:pPr marL="344170" indent="-337820"/>
            <a:r>
              <a:rPr lang="en-GB">
                <a:cs typeface="Arial"/>
              </a:rPr>
              <a:t>The syntax is:</a:t>
            </a:r>
          </a:p>
          <a:p>
            <a:pPr marL="344170" indent="-337820"/>
            <a:r>
              <a:rPr lang="en-GB" dirty="0">
                <a:solidFill>
                  <a:srgbClr val="FF0000"/>
                </a:solidFill>
                <a:cs typeface="Arial"/>
              </a:rPr>
              <a:t>forge create &lt;</a:t>
            </a:r>
            <a:r>
              <a:rPr lang="en-GB" dirty="0" err="1">
                <a:solidFill>
                  <a:srgbClr val="FF0000"/>
                </a:solidFill>
                <a:cs typeface="Arial"/>
              </a:rPr>
              <a:t>FilePath</a:t>
            </a:r>
            <a:r>
              <a:rPr lang="en-GB" dirty="0">
                <a:solidFill>
                  <a:srgbClr val="FF0000"/>
                </a:solidFill>
                <a:cs typeface="Arial"/>
              </a:rPr>
              <a:t>&gt;:&lt;</a:t>
            </a:r>
            <a:r>
              <a:rPr lang="en-GB" dirty="0" err="1">
                <a:solidFill>
                  <a:srgbClr val="FF0000"/>
                </a:solidFill>
                <a:cs typeface="Arial"/>
              </a:rPr>
              <a:t>ContractName</a:t>
            </a:r>
            <a:r>
              <a:rPr lang="en-GB" dirty="0">
                <a:solidFill>
                  <a:srgbClr val="FF0000"/>
                </a:solidFill>
                <a:cs typeface="Arial"/>
              </a:rPr>
              <a:t>&gt; --</a:t>
            </a:r>
            <a:r>
              <a:rPr lang="en-GB" dirty="0" err="1">
                <a:solidFill>
                  <a:srgbClr val="FF0000"/>
                </a:solidFill>
                <a:cs typeface="Arial"/>
              </a:rPr>
              <a:t>rpc-url</a:t>
            </a:r>
            <a:r>
              <a:rPr lang="en-GB" dirty="0">
                <a:solidFill>
                  <a:srgbClr val="FF0000"/>
                </a:solidFill>
                <a:cs typeface="Arial"/>
              </a:rPr>
              <a:t> &lt;URL&gt; --private-key &lt;PK&gt; --broadcast</a:t>
            </a:r>
          </a:p>
          <a:p>
            <a:pPr marL="344170" indent="-337820"/>
            <a:r>
              <a:rPr lang="en-GB" dirty="0">
                <a:cs typeface="Arial"/>
              </a:rPr>
              <a:t>If there are constructor arguments they can be specified by placing the '</a:t>
            </a:r>
            <a:r>
              <a:rPr lang="en-GB" dirty="0">
                <a:solidFill>
                  <a:srgbClr val="FF0000"/>
                </a:solidFill>
                <a:cs typeface="Arial"/>
              </a:rPr>
              <a:t>--</a:t>
            </a:r>
            <a:r>
              <a:rPr lang="en-GB" dirty="0" err="1">
                <a:solidFill>
                  <a:srgbClr val="FF0000"/>
                </a:solidFill>
                <a:cs typeface="Arial"/>
              </a:rPr>
              <a:t>contructor-args</a:t>
            </a:r>
            <a:r>
              <a:rPr lang="en-GB" dirty="0">
                <a:cs typeface="Arial"/>
              </a:rPr>
              <a:t>' flag at the end, then listing the </a:t>
            </a:r>
            <a:r>
              <a:rPr lang="en-GB" dirty="0" err="1">
                <a:cs typeface="Arial"/>
              </a:rPr>
              <a:t>args</a:t>
            </a:r>
            <a:endParaRPr lang="en-GB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076353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FEC3F-E5FE-C1F4-FBF1-65D5F3F3F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Default RPC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EBCEF-0B3B-DAC3-E1DE-120679BEC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>
                <a:cs typeface="Arial"/>
              </a:rPr>
              <a:t>If the RPC for any foundry command is not specified, the command defaults to '</a:t>
            </a:r>
            <a:r>
              <a:rPr lang="en-GB" dirty="0">
                <a:cs typeface="Arial"/>
                <a:hlinkClick r:id="rId2"/>
              </a:rPr>
              <a:t>http://localhost:8545</a:t>
            </a:r>
            <a:r>
              <a:rPr lang="en-GB">
                <a:cs typeface="Arial"/>
              </a:rPr>
              <a:t>'</a:t>
            </a:r>
          </a:p>
          <a:p>
            <a:pPr marL="344170" indent="-337820"/>
            <a:r>
              <a:rPr lang="en-GB">
                <a:cs typeface="Arial"/>
              </a:rPr>
              <a:t>This means, if default </a:t>
            </a:r>
            <a:r>
              <a:rPr lang="en-GB">
                <a:solidFill>
                  <a:srgbClr val="FF0000"/>
                </a:solidFill>
                <a:cs typeface="Arial"/>
              </a:rPr>
              <a:t>anvil </a:t>
            </a:r>
            <a:r>
              <a:rPr lang="en-GB">
                <a:cs typeface="Arial"/>
              </a:rPr>
              <a:t>is running on a machine, any queries to that network do not need to specify the RPC</a:t>
            </a:r>
            <a:endParaRPr lang="en-GB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09923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781DF-3968-69CA-B5BB-BAF65B67E3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Break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959905-3218-1507-2178-1B2EDDB107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95567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518D5-BA31-B98F-7730-F4FD60794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>
                <a:solidFill>
                  <a:srgbClr val="FFC000"/>
                </a:solidFill>
                <a:cs typeface="Arial"/>
              </a:rPr>
              <a:t>msg.sender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2A55C-2CEA-7381-2BDA-98ADBDB9C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4170" indent="-337820"/>
            <a:r>
              <a:rPr lang="en-GB" dirty="0">
                <a:cs typeface="Arial"/>
              </a:rPr>
              <a:t>As with '</a:t>
            </a:r>
            <a:r>
              <a:rPr lang="en-GB" dirty="0" err="1">
                <a:solidFill>
                  <a:srgbClr val="FFC000"/>
                </a:solidFill>
                <a:cs typeface="Arial"/>
              </a:rPr>
              <a:t>msg.value</a:t>
            </a:r>
            <a:r>
              <a:rPr lang="en-GB" dirty="0">
                <a:cs typeface="Arial"/>
              </a:rPr>
              <a:t>' earlier which stored the amount of Wei the message sent to the contract contained, there is also '</a:t>
            </a:r>
            <a:r>
              <a:rPr lang="en-GB" dirty="0" err="1">
                <a:solidFill>
                  <a:srgbClr val="FFC000"/>
                </a:solidFill>
                <a:cs typeface="Arial"/>
              </a:rPr>
              <a:t>msg.sender</a:t>
            </a:r>
            <a:r>
              <a:rPr lang="en-GB" dirty="0">
                <a:cs typeface="Arial"/>
              </a:rPr>
              <a:t>'</a:t>
            </a:r>
          </a:p>
          <a:p>
            <a:pPr marL="344170" indent="-337820"/>
            <a:r>
              <a:rPr lang="en-GB" dirty="0">
                <a:cs typeface="Arial"/>
              </a:rPr>
              <a:t>'</a:t>
            </a:r>
            <a:r>
              <a:rPr lang="en-GB" dirty="0" err="1">
                <a:solidFill>
                  <a:srgbClr val="FFC000"/>
                </a:solidFill>
                <a:cs typeface="Arial"/>
              </a:rPr>
              <a:t>msg.sender</a:t>
            </a:r>
            <a:r>
              <a:rPr lang="en-GB" dirty="0">
                <a:cs typeface="Arial"/>
              </a:rPr>
              <a:t>' stores the public key/address of the account that sent the message to the current contract as an '</a:t>
            </a:r>
            <a:r>
              <a:rPr lang="en-GB" dirty="0">
                <a:solidFill>
                  <a:srgbClr val="FFC000"/>
                </a:solidFill>
                <a:cs typeface="Arial"/>
              </a:rPr>
              <a:t>address</a:t>
            </a:r>
            <a:r>
              <a:rPr lang="en-GB" dirty="0">
                <a:cs typeface="Arial"/>
              </a:rPr>
              <a:t>' type</a:t>
            </a:r>
          </a:p>
          <a:p>
            <a:pPr marL="344170" indent="-337820"/>
            <a:r>
              <a:rPr lang="en-GB" dirty="0">
                <a:cs typeface="Arial"/>
              </a:rPr>
              <a:t>If an EOA can send a message to a contract, which then sends a message to another contract, that second contract would have the '</a:t>
            </a:r>
            <a:r>
              <a:rPr lang="en-GB" dirty="0" err="1">
                <a:solidFill>
                  <a:srgbClr val="FFC000"/>
                </a:solidFill>
                <a:cs typeface="Arial"/>
              </a:rPr>
              <a:t>msg.sender</a:t>
            </a:r>
            <a:r>
              <a:rPr lang="en-GB" dirty="0">
                <a:cs typeface="Arial"/>
              </a:rPr>
              <a:t>' value be the address of the first contract</a:t>
            </a:r>
          </a:p>
          <a:p>
            <a:pPr marL="344170" indent="-337820"/>
            <a:r>
              <a:rPr lang="en-GB" dirty="0">
                <a:cs typeface="Arial"/>
              </a:rPr>
              <a:t>To get the address of the original transaction sender '</a:t>
            </a:r>
            <a:r>
              <a:rPr lang="en-GB" dirty="0" err="1">
                <a:solidFill>
                  <a:srgbClr val="FFC000"/>
                </a:solidFill>
                <a:cs typeface="Arial"/>
              </a:rPr>
              <a:t>tx.sender</a:t>
            </a:r>
            <a:r>
              <a:rPr lang="en-GB" dirty="0">
                <a:cs typeface="Arial"/>
              </a:rPr>
              <a:t>' is used</a:t>
            </a:r>
          </a:p>
        </p:txBody>
      </p:sp>
    </p:spTree>
    <p:extLst>
      <p:ext uri="{BB962C8B-B14F-4D97-AF65-F5344CB8AC3E}">
        <p14:creationId xmlns:p14="http://schemas.microsoft.com/office/powerpoint/2010/main" val="39297080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C3120-B693-F9EC-5782-FC5C753C4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Sending Money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F051A-5D5D-CE94-E89A-045F87216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>
                <a:cs typeface="Arial"/>
              </a:rPr>
              <a:t>A contract can send money to an address using the '</a:t>
            </a:r>
            <a:r>
              <a:rPr lang="en-GB">
                <a:solidFill>
                  <a:srgbClr val="FFC000"/>
                </a:solidFill>
                <a:cs typeface="Arial"/>
              </a:rPr>
              <a:t>call</a:t>
            </a:r>
            <a:r>
              <a:rPr lang="en-GB">
                <a:cs typeface="Arial"/>
              </a:rPr>
              <a:t>' method of the '</a:t>
            </a:r>
            <a:r>
              <a:rPr lang="en-GB">
                <a:solidFill>
                  <a:srgbClr val="FFC000"/>
                </a:solidFill>
                <a:cs typeface="Arial"/>
              </a:rPr>
              <a:t>address</a:t>
            </a:r>
            <a:r>
              <a:rPr lang="en-GB">
                <a:cs typeface="Arial"/>
              </a:rPr>
              <a:t>' type</a:t>
            </a:r>
          </a:p>
          <a:p>
            <a:pPr marL="344170" indent="-337820"/>
            <a:r>
              <a:rPr lang="en-GB" dirty="0">
                <a:cs typeface="Arial"/>
              </a:rPr>
              <a:t>Just like with '</a:t>
            </a:r>
            <a:r>
              <a:rPr lang="en-GB" dirty="0">
                <a:solidFill>
                  <a:srgbClr val="FFC000"/>
                </a:solidFill>
                <a:cs typeface="Arial"/>
              </a:rPr>
              <a:t>cast send</a:t>
            </a:r>
            <a:r>
              <a:rPr lang="en-GB" dirty="0">
                <a:cs typeface="Arial"/>
              </a:rPr>
              <a:t>', '</a:t>
            </a:r>
            <a:r>
              <a:rPr lang="en-GB" dirty="0">
                <a:solidFill>
                  <a:srgbClr val="FFC000"/>
                </a:solidFill>
                <a:cs typeface="Arial"/>
              </a:rPr>
              <a:t>call</a:t>
            </a:r>
            <a:r>
              <a:rPr lang="en-GB" dirty="0">
                <a:cs typeface="Arial"/>
              </a:rPr>
              <a:t>' can send data with the amount and even call functions (this is not </a:t>
            </a:r>
            <a:r>
              <a:rPr lang="en-GB">
                <a:cs typeface="Arial"/>
              </a:rPr>
              <a:t>recommended</a:t>
            </a:r>
            <a:r>
              <a:rPr lang="en-GB" dirty="0">
                <a:cs typeface="Arial"/>
              </a:rPr>
              <a:t>)</a:t>
            </a:r>
          </a:p>
          <a:p>
            <a:pPr marL="344170" indent="-337820"/>
            <a:r>
              <a:rPr lang="en-GB">
                <a:cs typeface="Arial"/>
              </a:rPr>
              <a:t>The syntax is:</a:t>
            </a:r>
          </a:p>
          <a:p>
            <a:pPr marL="344170" indent="-337820"/>
            <a:r>
              <a:rPr lang="en-GB">
                <a:solidFill>
                  <a:srgbClr val="FFC000"/>
                </a:solidFill>
                <a:cs typeface="Arial"/>
              </a:rPr>
              <a:t>&lt;address&gt;.call{value: &lt;Amount&gt;}("");</a:t>
            </a:r>
          </a:p>
          <a:p>
            <a:pPr marL="344170" indent="-337820"/>
            <a:r>
              <a:rPr lang="en-GB" dirty="0">
                <a:cs typeface="Arial"/>
              </a:rPr>
              <a:t>The '</a:t>
            </a:r>
            <a:r>
              <a:rPr lang="en-GB" dirty="0">
                <a:solidFill>
                  <a:srgbClr val="FFC000"/>
                </a:solidFill>
                <a:cs typeface="Arial"/>
              </a:rPr>
              <a:t>call</a:t>
            </a:r>
            <a:r>
              <a:rPr lang="en-GB" dirty="0">
                <a:cs typeface="Arial"/>
              </a:rPr>
              <a:t>' will either return '</a:t>
            </a:r>
            <a:r>
              <a:rPr lang="en-GB" dirty="0">
                <a:solidFill>
                  <a:srgbClr val="FFC000"/>
                </a:solidFill>
                <a:cs typeface="Arial"/>
              </a:rPr>
              <a:t>true</a:t>
            </a:r>
            <a:r>
              <a:rPr lang="en-GB" dirty="0">
                <a:cs typeface="Arial"/>
              </a:rPr>
              <a:t>' or '</a:t>
            </a:r>
            <a:r>
              <a:rPr lang="en-GB" dirty="0">
                <a:solidFill>
                  <a:srgbClr val="FFC000"/>
                </a:solidFill>
                <a:cs typeface="Arial"/>
              </a:rPr>
              <a:t>false</a:t>
            </a:r>
            <a:r>
              <a:rPr lang="en-GB" dirty="0">
                <a:cs typeface="Arial"/>
              </a:rPr>
              <a:t>' depending on if the transaction </a:t>
            </a:r>
            <a:r>
              <a:rPr lang="en-GB">
                <a:cs typeface="Arial"/>
              </a:rPr>
              <a:t>succeeded, and the returned data (in this case empty)</a:t>
            </a:r>
            <a:endParaRPr lang="en-GB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59819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8D6FA-BFFD-3A65-544F-1AB7C1D28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Community Chest v5</a:t>
            </a:r>
            <a:endParaRPr lang="en-GB"/>
          </a:p>
        </p:txBody>
      </p:sp>
      <p:pic>
        <p:nvPicPr>
          <p:cNvPr id="7" name="Content Placeholder 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4514CCCD-9B3F-A8CF-5ABC-2645723D7E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2699" y="1493316"/>
            <a:ext cx="8851539" cy="4556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3633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E1AFC-D139-2532-C601-83B8075CA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C000"/>
                </a:solidFill>
                <a:cs typeface="Arial"/>
              </a:rPr>
              <a:t>event </a:t>
            </a:r>
            <a:r>
              <a:rPr lang="en-GB">
                <a:cs typeface="Arial"/>
              </a:rPr>
              <a:t>and </a:t>
            </a:r>
            <a:r>
              <a:rPr lang="en-GB">
                <a:solidFill>
                  <a:srgbClr val="FFC000"/>
                </a:solidFill>
                <a:cs typeface="Arial"/>
              </a:rPr>
              <a:t>emit</a:t>
            </a:r>
            <a:endParaRPr lang="en-GB"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F1F01-DA6A-2FA8-3C3B-D85F910D5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3656" y="1239318"/>
            <a:ext cx="8246483" cy="5507311"/>
          </a:xfrm>
        </p:spPr>
        <p:txBody>
          <a:bodyPr>
            <a:normAutofit fontScale="92500"/>
          </a:bodyPr>
          <a:lstStyle/>
          <a:p>
            <a:pPr marL="344170" indent="-337820"/>
            <a:r>
              <a:rPr lang="en-GB" dirty="0">
                <a:cs typeface="Arial"/>
              </a:rPr>
              <a:t>Ethereum comes with a way to log activities, and </a:t>
            </a:r>
            <a:r>
              <a:rPr lang="en-GB" dirty="0">
                <a:solidFill>
                  <a:srgbClr val="FFC000"/>
                </a:solidFill>
                <a:cs typeface="Arial"/>
              </a:rPr>
              <a:t>events </a:t>
            </a:r>
            <a:r>
              <a:rPr lang="en-GB" dirty="0">
                <a:cs typeface="Arial"/>
              </a:rPr>
              <a:t>are a way for </a:t>
            </a:r>
            <a:r>
              <a:rPr lang="en-GB">
                <a:cs typeface="Arial"/>
              </a:rPr>
              <a:t>smart contracts to do that</a:t>
            </a:r>
          </a:p>
          <a:p>
            <a:pPr marL="344170" indent="-337820"/>
            <a:r>
              <a:rPr lang="en-GB" dirty="0">
                <a:solidFill>
                  <a:srgbClr val="FFC000"/>
                </a:solidFill>
                <a:cs typeface="Arial"/>
              </a:rPr>
              <a:t>Events </a:t>
            </a:r>
            <a:r>
              <a:rPr lang="en-GB" dirty="0">
                <a:cs typeface="Arial"/>
              </a:rPr>
              <a:t>with defined as a name and a number of parameters which are what will be logged</a:t>
            </a:r>
          </a:p>
          <a:p>
            <a:pPr marL="344170" indent="-337820"/>
            <a:r>
              <a:rPr lang="en-GB" dirty="0">
                <a:cs typeface="Arial"/>
              </a:rPr>
              <a:t>This is not useful for smart contracts themselves, but for the decentralised Apps (</a:t>
            </a:r>
            <a:r>
              <a:rPr lang="en-GB" dirty="0" err="1">
                <a:cs typeface="Arial"/>
              </a:rPr>
              <a:t>DApps</a:t>
            </a:r>
            <a:r>
              <a:rPr lang="en-GB" dirty="0">
                <a:cs typeface="Arial"/>
              </a:rPr>
              <a:t>) that are built around them</a:t>
            </a:r>
          </a:p>
          <a:p>
            <a:pPr marL="344170" indent="-337820"/>
            <a:r>
              <a:rPr lang="en-GB">
                <a:cs typeface="Arial"/>
              </a:rPr>
              <a:t>The syntax is:</a:t>
            </a:r>
          </a:p>
          <a:p>
            <a:pPr marL="344170" indent="-337820"/>
            <a:r>
              <a:rPr lang="en-GB" dirty="0">
                <a:solidFill>
                  <a:srgbClr val="FFC000"/>
                </a:solidFill>
                <a:cs typeface="Arial"/>
              </a:rPr>
              <a:t>event &lt;Name&gt;(&lt;Type&gt; &lt;</a:t>
            </a:r>
            <a:r>
              <a:rPr lang="en-GB" dirty="0" err="1">
                <a:solidFill>
                  <a:srgbClr val="FFC000"/>
                </a:solidFill>
                <a:cs typeface="Arial"/>
              </a:rPr>
              <a:t>Param_Name</a:t>
            </a:r>
            <a:r>
              <a:rPr lang="en-GB" dirty="0">
                <a:solidFill>
                  <a:srgbClr val="FFC000"/>
                </a:solidFill>
                <a:cs typeface="Arial"/>
              </a:rPr>
              <a:t>&gt;, &lt;Type&gt; &lt;</a:t>
            </a:r>
            <a:r>
              <a:rPr lang="en-GB" dirty="0" err="1">
                <a:solidFill>
                  <a:srgbClr val="FFC000"/>
                </a:solidFill>
                <a:cs typeface="Arial"/>
              </a:rPr>
              <a:t>Param_Name</a:t>
            </a:r>
            <a:r>
              <a:rPr lang="en-GB" dirty="0">
                <a:solidFill>
                  <a:srgbClr val="FFC000"/>
                </a:solidFill>
                <a:cs typeface="Arial"/>
              </a:rPr>
              <a:t>&gt;, …);</a:t>
            </a:r>
          </a:p>
          <a:p>
            <a:pPr marL="344170" indent="-337820"/>
            <a:r>
              <a:rPr lang="en-GB">
                <a:cs typeface="Arial"/>
              </a:rPr>
              <a:t>There is no limit on arguments</a:t>
            </a:r>
          </a:p>
          <a:p>
            <a:pPr marL="344170" indent="-337820"/>
            <a:r>
              <a:rPr lang="en-GB">
                <a:solidFill>
                  <a:srgbClr val="FFC000"/>
                </a:solidFill>
                <a:cs typeface="Arial"/>
              </a:rPr>
              <a:t>Events </a:t>
            </a:r>
            <a:r>
              <a:rPr lang="en-GB">
                <a:cs typeface="Arial"/>
              </a:rPr>
              <a:t>are logged using the '</a:t>
            </a:r>
            <a:r>
              <a:rPr lang="en-GB">
                <a:solidFill>
                  <a:srgbClr val="FFC000"/>
                </a:solidFill>
                <a:cs typeface="Arial"/>
              </a:rPr>
              <a:t>emit</a:t>
            </a:r>
            <a:r>
              <a:rPr lang="en-GB">
                <a:cs typeface="Arial"/>
              </a:rPr>
              <a:t>' keyword</a:t>
            </a:r>
          </a:p>
          <a:p>
            <a:pPr marL="344170" indent="-337820"/>
            <a:r>
              <a:rPr lang="en-GB">
                <a:solidFill>
                  <a:srgbClr val="FFC000"/>
                </a:solidFill>
                <a:cs typeface="Arial"/>
              </a:rPr>
              <a:t>emit &lt;Name&gt;(&lt;Arg_1&gt;, &lt;Arg_2&gt;, …);</a:t>
            </a:r>
          </a:p>
          <a:p>
            <a:pPr marL="344170" indent="-337820"/>
            <a:r>
              <a:rPr lang="en-GB" sz="2100">
                <a:solidFill>
                  <a:srgbClr val="FFC000"/>
                </a:solidFill>
                <a:cs typeface="Arial"/>
              </a:rPr>
              <a:t>view </a:t>
            </a:r>
            <a:r>
              <a:rPr lang="en-GB" sz="2100">
                <a:solidFill>
                  <a:srgbClr val="FFFFFF"/>
                </a:solidFill>
                <a:cs typeface="Arial"/>
              </a:rPr>
              <a:t>or </a:t>
            </a:r>
            <a:r>
              <a:rPr lang="en-GB" sz="2100">
                <a:solidFill>
                  <a:srgbClr val="FFC000"/>
                </a:solidFill>
                <a:cs typeface="Arial"/>
              </a:rPr>
              <a:t>pure </a:t>
            </a:r>
            <a:r>
              <a:rPr lang="en-GB" sz="2100">
                <a:solidFill>
                  <a:srgbClr val="FFFFFF"/>
                </a:solidFill>
                <a:cs typeface="Arial"/>
              </a:rPr>
              <a:t>functions cannot emit events</a:t>
            </a:r>
            <a:endParaRPr lang="en-GB" dirty="0">
              <a:solidFill>
                <a:srgbClr val="FFC000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75001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7354F-4CD5-6AEC-BDFE-A2D7BBF72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Community Chest v6</a:t>
            </a:r>
          </a:p>
        </p:txBody>
      </p:sp>
      <p:pic>
        <p:nvPicPr>
          <p:cNvPr id="4" name="Content Placeholder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4E339D36-2B5C-DCEB-81BF-27A3F983DB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7649" y="1348173"/>
            <a:ext cx="8141811" cy="545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5659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6F492-B770-ADD7-125A-4B66FF474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C000"/>
                </a:solidFill>
                <a:cs typeface="Arial"/>
              </a:rPr>
              <a:t>indexed </a:t>
            </a:r>
            <a:r>
              <a:rPr lang="en-GB">
                <a:cs typeface="Arial"/>
              </a:rPr>
              <a:t>event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983AC-6A7F-9D04-FE6F-B92472D43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>
                <a:cs typeface="Arial"/>
              </a:rPr>
              <a:t>Just as with views in SQL, the events can have '</a:t>
            </a:r>
            <a:r>
              <a:rPr lang="en-GB">
                <a:solidFill>
                  <a:srgbClr val="FFC000"/>
                </a:solidFill>
                <a:cs typeface="Arial"/>
              </a:rPr>
              <a:t>indexed</a:t>
            </a:r>
            <a:r>
              <a:rPr lang="en-GB">
                <a:cs typeface="Arial"/>
              </a:rPr>
              <a:t>' parameters that are used to quickly sort through them</a:t>
            </a:r>
          </a:p>
          <a:p>
            <a:pPr marL="344170" indent="-337820"/>
            <a:r>
              <a:rPr lang="en-GB" dirty="0">
                <a:cs typeface="Arial"/>
              </a:rPr>
              <a:t>This is used by specifying the word '</a:t>
            </a:r>
            <a:r>
              <a:rPr lang="en-GB" dirty="0">
                <a:solidFill>
                  <a:srgbClr val="FFC000"/>
                </a:solidFill>
                <a:cs typeface="Arial"/>
              </a:rPr>
              <a:t>indexed</a:t>
            </a:r>
            <a:r>
              <a:rPr lang="en-GB" dirty="0">
                <a:cs typeface="Arial"/>
              </a:rPr>
              <a:t>' after the type of the </a:t>
            </a:r>
            <a:r>
              <a:rPr lang="en-GB">
                <a:cs typeface="Arial"/>
              </a:rPr>
              <a:t>parameter</a:t>
            </a:r>
            <a:endParaRPr lang="en-GB" dirty="0">
              <a:cs typeface="Arial"/>
            </a:endParaRPr>
          </a:p>
          <a:p>
            <a:pPr marL="344170" indent="-337820"/>
            <a:r>
              <a:rPr lang="en-GB" dirty="0">
                <a:cs typeface="Arial"/>
              </a:rPr>
              <a:t>There can only be a max of 3 </a:t>
            </a:r>
            <a:r>
              <a:rPr lang="en-GB" dirty="0">
                <a:solidFill>
                  <a:srgbClr val="FFC000"/>
                </a:solidFill>
                <a:cs typeface="Arial"/>
              </a:rPr>
              <a:t>indexed</a:t>
            </a:r>
            <a:r>
              <a:rPr lang="en-GB" dirty="0">
                <a:cs typeface="Arial"/>
              </a:rPr>
              <a:t> </a:t>
            </a:r>
            <a:r>
              <a:rPr lang="en-GB">
                <a:cs typeface="Arial"/>
              </a:rPr>
              <a:t>parameters</a:t>
            </a:r>
            <a:r>
              <a:rPr lang="en-GB" dirty="0">
                <a:cs typeface="Arial"/>
              </a:rPr>
              <a:t> per </a:t>
            </a:r>
            <a:r>
              <a:rPr lang="en-GB" dirty="0">
                <a:solidFill>
                  <a:srgbClr val="FFC000"/>
                </a:solidFill>
                <a:cs typeface="Arial"/>
              </a:rPr>
              <a:t>event</a:t>
            </a:r>
          </a:p>
          <a:p>
            <a:pPr marL="344170" indent="-337820"/>
            <a:r>
              <a:rPr lang="en-GB" dirty="0">
                <a:cs typeface="Arial"/>
              </a:rPr>
              <a:t>Each </a:t>
            </a:r>
            <a:r>
              <a:rPr lang="en-GB" dirty="0">
                <a:solidFill>
                  <a:srgbClr val="FFC000"/>
                </a:solidFill>
                <a:cs typeface="Arial"/>
              </a:rPr>
              <a:t>indexed </a:t>
            </a:r>
            <a:r>
              <a:rPr lang="en-GB" dirty="0">
                <a:cs typeface="Arial"/>
              </a:rPr>
              <a:t>parameter must be max 32 bytes, so any data longer </a:t>
            </a:r>
            <a:r>
              <a:rPr lang="en-GB">
                <a:cs typeface="Arial"/>
              </a:rPr>
              <a:t>than that, or that is of variable size, is hashed</a:t>
            </a:r>
          </a:p>
        </p:txBody>
      </p:sp>
    </p:spTree>
    <p:extLst>
      <p:ext uri="{BB962C8B-B14F-4D97-AF65-F5344CB8AC3E}">
        <p14:creationId xmlns:p14="http://schemas.microsoft.com/office/powerpoint/2010/main" val="11402834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7C69E-7D0A-FD95-76C1-629D3AA81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Community Chest v7</a:t>
            </a:r>
            <a:endParaRPr lang="en-GB"/>
          </a:p>
        </p:txBody>
      </p:sp>
      <p:pic>
        <p:nvPicPr>
          <p:cNvPr id="4" name="Content Placeholder 3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07B3FEEB-7A1B-6790-09B3-EAB8044DA8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9410" y="1348174"/>
            <a:ext cx="8951033" cy="5333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2656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D2A5A-802C-5459-C724-A9773E3F4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C000"/>
                </a:solidFill>
                <a:cs typeface="Arial"/>
              </a:rPr>
              <a:t>receive </a:t>
            </a:r>
            <a:r>
              <a:rPr lang="en-GB">
                <a:cs typeface="Arial"/>
              </a:rPr>
              <a:t>and </a:t>
            </a:r>
            <a:r>
              <a:rPr lang="en-GB">
                <a:solidFill>
                  <a:srgbClr val="FFC000"/>
                </a:solidFill>
                <a:cs typeface="Arial"/>
              </a:rPr>
              <a:t>fallback</a:t>
            </a:r>
            <a:endParaRPr lang="en-GB"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569AD-4EDF-9163-9626-B3A3E2C97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 dirty="0">
                <a:cs typeface="Arial"/>
              </a:rPr>
              <a:t>Contracts can receive money from '</a:t>
            </a:r>
            <a:r>
              <a:rPr lang="en-GB" dirty="0">
                <a:solidFill>
                  <a:srgbClr val="FFC000"/>
                </a:solidFill>
                <a:cs typeface="Arial"/>
              </a:rPr>
              <a:t>payable</a:t>
            </a:r>
            <a:r>
              <a:rPr lang="en-GB" dirty="0">
                <a:cs typeface="Arial"/>
              </a:rPr>
              <a:t>' functions, but when they pay </a:t>
            </a:r>
            <a:r>
              <a:rPr lang="en-GB">
                <a:cs typeface="Arial"/>
              </a:rPr>
              <a:t>accounts,</a:t>
            </a:r>
            <a:r>
              <a:rPr lang="en-GB" dirty="0">
                <a:cs typeface="Arial"/>
              </a:rPr>
              <a:t> they just send money</a:t>
            </a:r>
          </a:p>
          <a:p>
            <a:pPr marL="344170" indent="-337820"/>
            <a:r>
              <a:rPr lang="en-GB" dirty="0">
                <a:cs typeface="Arial"/>
              </a:rPr>
              <a:t>If a contract needs to query another, to be paid, they need some way of being </a:t>
            </a:r>
            <a:r>
              <a:rPr lang="en-GB">
                <a:cs typeface="Arial"/>
              </a:rPr>
              <a:t>paid</a:t>
            </a:r>
            <a:r>
              <a:rPr lang="en-GB" dirty="0">
                <a:cs typeface="Arial"/>
              </a:rPr>
              <a:t> the same as EOAs</a:t>
            </a:r>
          </a:p>
          <a:p>
            <a:pPr marL="344170" indent="-337820"/>
            <a:r>
              <a:rPr lang="en-GB">
                <a:cs typeface="Arial"/>
              </a:rPr>
              <a:t>There are two functions for this '</a:t>
            </a:r>
            <a:r>
              <a:rPr lang="en-GB">
                <a:solidFill>
                  <a:srgbClr val="FFC000"/>
                </a:solidFill>
                <a:cs typeface="Arial"/>
              </a:rPr>
              <a:t>receive</a:t>
            </a:r>
            <a:r>
              <a:rPr lang="en-GB">
                <a:cs typeface="Arial"/>
              </a:rPr>
              <a:t>' and '</a:t>
            </a:r>
            <a:r>
              <a:rPr lang="en-GB">
                <a:solidFill>
                  <a:srgbClr val="FFC000"/>
                </a:solidFill>
                <a:cs typeface="Arial"/>
              </a:rPr>
              <a:t>fallback</a:t>
            </a:r>
            <a:r>
              <a:rPr lang="en-GB">
                <a:cs typeface="Arial"/>
              </a:rPr>
              <a:t>'</a:t>
            </a:r>
            <a:endParaRPr lang="en-GB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09768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4DA88-30CF-37C1-F071-FE2D74122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C000"/>
                </a:solidFill>
                <a:cs typeface="Arial"/>
              </a:rPr>
              <a:t>receive</a:t>
            </a:r>
            <a:endParaRPr lang="en-GB"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D441E-DFD6-FAE5-D074-D4C620F40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 dirty="0">
                <a:cs typeface="Arial"/>
              </a:rPr>
              <a:t>A contract can define a </a:t>
            </a:r>
            <a:r>
              <a:rPr lang="en-GB" dirty="0">
                <a:solidFill>
                  <a:srgbClr val="FFC000"/>
                </a:solidFill>
                <a:cs typeface="Arial"/>
              </a:rPr>
              <a:t>receive </a:t>
            </a:r>
            <a:r>
              <a:rPr lang="en-GB" dirty="0">
                <a:cs typeface="Arial"/>
              </a:rPr>
              <a:t>function, which is the function that will be called when a transaction with ether but no data is sent</a:t>
            </a:r>
          </a:p>
          <a:p>
            <a:pPr marL="344170" indent="-337820"/>
            <a:r>
              <a:rPr lang="en-GB">
                <a:solidFill>
                  <a:srgbClr val="FFC000"/>
                </a:solidFill>
                <a:cs typeface="Arial"/>
              </a:rPr>
              <a:t>receive </a:t>
            </a:r>
            <a:r>
              <a:rPr lang="en-GB">
                <a:cs typeface="Arial"/>
              </a:rPr>
              <a:t>must be </a:t>
            </a:r>
            <a:r>
              <a:rPr lang="en-GB">
                <a:solidFill>
                  <a:srgbClr val="FFC000"/>
                </a:solidFill>
                <a:cs typeface="Arial"/>
              </a:rPr>
              <a:t>payable</a:t>
            </a:r>
            <a:r>
              <a:rPr lang="en-GB">
                <a:cs typeface="Arial"/>
              </a:rPr>
              <a:t>, and it must be </a:t>
            </a:r>
            <a:r>
              <a:rPr lang="en-GB">
                <a:solidFill>
                  <a:srgbClr val="FFC000"/>
                </a:solidFill>
                <a:cs typeface="Arial"/>
              </a:rPr>
              <a:t>external</a:t>
            </a:r>
            <a:endParaRPr lang="en-GB" dirty="0">
              <a:solidFill>
                <a:srgbClr val="FFC000"/>
              </a:solidFill>
              <a:cs typeface="Arial"/>
            </a:endParaRPr>
          </a:p>
          <a:p>
            <a:pPr marL="344170" indent="-337820"/>
            <a:r>
              <a:rPr lang="en-GB" dirty="0">
                <a:solidFill>
                  <a:srgbClr val="FFC000"/>
                </a:solidFill>
                <a:cs typeface="Arial"/>
              </a:rPr>
              <a:t>external </a:t>
            </a:r>
            <a:r>
              <a:rPr lang="en-GB" dirty="0">
                <a:cs typeface="Arial"/>
              </a:rPr>
              <a:t>means that while other accounts can call the function, the contr</a:t>
            </a:r>
            <a:r>
              <a:rPr lang="en-GB">
                <a:cs typeface="Arial"/>
              </a:rPr>
              <a:t>act can't call it itself unlike </a:t>
            </a:r>
            <a:r>
              <a:rPr lang="en-GB">
                <a:solidFill>
                  <a:srgbClr val="FFC000"/>
                </a:solidFill>
                <a:cs typeface="Arial"/>
              </a:rPr>
              <a:t>public </a:t>
            </a:r>
            <a:r>
              <a:rPr lang="en-GB">
                <a:cs typeface="Arial"/>
              </a:rPr>
              <a:t>which anyone can call</a:t>
            </a:r>
            <a:endParaRPr lang="en-GB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64838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D82DD-7888-0FED-4C53-44D2A59BA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Community Chest v8</a:t>
            </a:r>
            <a:endParaRPr lang="en-GB"/>
          </a:p>
        </p:txBody>
      </p:sp>
      <p:pic>
        <p:nvPicPr>
          <p:cNvPr id="4" name="Content Placeholder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C310233-D89A-142B-8BA9-2CB1AF8844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7665" y="1348173"/>
            <a:ext cx="6721781" cy="550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0060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4A9AC-9041-9179-AFB7-8666AC29E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C000"/>
                </a:solidFill>
                <a:cs typeface="Arial"/>
              </a:rPr>
              <a:t>fallback</a:t>
            </a:r>
            <a:endParaRPr lang="en-GB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C3EBD-03A9-4551-41E9-2397810F8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>
                <a:cs typeface="Arial"/>
              </a:rPr>
              <a:t>A contract can define a </a:t>
            </a:r>
            <a:r>
              <a:rPr lang="en-GB">
                <a:solidFill>
                  <a:srgbClr val="FFC000"/>
                </a:solidFill>
                <a:cs typeface="Arial"/>
              </a:rPr>
              <a:t>fallback </a:t>
            </a:r>
            <a:r>
              <a:rPr lang="en-GB">
                <a:cs typeface="Arial"/>
              </a:rPr>
              <a:t>function which is a function that is called when the data sent with a transaction does not match any other function</a:t>
            </a:r>
          </a:p>
          <a:p>
            <a:pPr marL="344170" indent="-337820"/>
            <a:r>
              <a:rPr lang="en-GB">
                <a:cs typeface="Arial"/>
              </a:rPr>
              <a:t>This includes if the data is empty</a:t>
            </a:r>
          </a:p>
          <a:p>
            <a:pPr marL="344170" indent="-337820"/>
            <a:r>
              <a:rPr lang="en-GB">
                <a:solidFill>
                  <a:srgbClr val="FFC000"/>
                </a:solidFill>
                <a:cs typeface="Arial"/>
              </a:rPr>
              <a:t>fallback </a:t>
            </a:r>
            <a:r>
              <a:rPr lang="en-GB">
                <a:cs typeface="Arial"/>
              </a:rPr>
              <a:t>must be </a:t>
            </a:r>
            <a:r>
              <a:rPr lang="en-GB">
                <a:solidFill>
                  <a:srgbClr val="FFC000"/>
                </a:solidFill>
                <a:cs typeface="Arial"/>
              </a:rPr>
              <a:t>external</a:t>
            </a:r>
            <a:r>
              <a:rPr lang="en-GB">
                <a:cs typeface="Arial"/>
              </a:rPr>
              <a:t>, and can be </a:t>
            </a:r>
            <a:r>
              <a:rPr lang="en-GB">
                <a:solidFill>
                  <a:srgbClr val="FFC000"/>
                </a:solidFill>
                <a:cs typeface="Arial"/>
              </a:rPr>
              <a:t>payable</a:t>
            </a:r>
          </a:p>
          <a:p>
            <a:pPr marL="344170" indent="-337820"/>
            <a:r>
              <a:rPr lang="en-GB">
                <a:cs typeface="Arial"/>
              </a:rPr>
              <a:t>if </a:t>
            </a:r>
            <a:r>
              <a:rPr lang="en-GB">
                <a:solidFill>
                  <a:srgbClr val="FFC000"/>
                </a:solidFill>
                <a:cs typeface="Arial"/>
              </a:rPr>
              <a:t>fallback </a:t>
            </a:r>
            <a:r>
              <a:rPr lang="en-GB">
                <a:cs typeface="Arial"/>
              </a:rPr>
              <a:t>is </a:t>
            </a:r>
            <a:r>
              <a:rPr lang="en-GB">
                <a:solidFill>
                  <a:srgbClr val="FFC000"/>
                </a:solidFill>
                <a:cs typeface="Arial"/>
              </a:rPr>
              <a:t>payable </a:t>
            </a:r>
            <a:r>
              <a:rPr lang="en-GB">
                <a:cs typeface="Arial"/>
              </a:rPr>
              <a:t>then queries that included ether are also accepted, otherwise they are not</a:t>
            </a:r>
            <a:endParaRPr lang="en-GB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31615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046D0-7585-282C-2A7F-94C5EF061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Community Chest v9</a:t>
            </a:r>
            <a:endParaRPr lang="en-GB"/>
          </a:p>
        </p:txBody>
      </p:sp>
      <p:pic>
        <p:nvPicPr>
          <p:cNvPr id="4" name="Content Placeholder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7F9A5115-2BD9-DA85-41D4-6A6776E84B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0539" y="1348173"/>
            <a:ext cx="5684260" cy="550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34428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69988-F745-6252-90BB-C3BC1894C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Owner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F3CCC-625A-59D7-8724-02DFA4469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>
                <a:cs typeface="Arial"/>
              </a:rPr>
              <a:t>Commonly the idea of an 'owner' is used</a:t>
            </a:r>
          </a:p>
          <a:p>
            <a:pPr marL="344170" indent="-337820"/>
            <a:r>
              <a:rPr lang="en-GB" dirty="0">
                <a:cs typeface="Arial"/>
              </a:rPr>
              <a:t>This means often during construction, the owner's address will be </a:t>
            </a:r>
            <a:r>
              <a:rPr lang="en-GB">
                <a:cs typeface="Arial"/>
              </a:rPr>
              <a:t>supplied,</a:t>
            </a:r>
            <a:r>
              <a:rPr lang="en-GB" dirty="0">
                <a:cs typeface="Arial"/>
              </a:rPr>
              <a:t> and some functions will only work if the sender's address is the same as the owner's</a:t>
            </a:r>
          </a:p>
        </p:txBody>
      </p:sp>
    </p:spTree>
    <p:extLst>
      <p:ext uri="{BB962C8B-B14F-4D97-AF65-F5344CB8AC3E}">
        <p14:creationId xmlns:p14="http://schemas.microsoft.com/office/powerpoint/2010/main" val="4644767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ED27D-7D61-C41C-375A-D945C0A28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Donation Chest</a:t>
            </a:r>
            <a:endParaRPr lang="en-GB"/>
          </a:p>
        </p:txBody>
      </p:sp>
      <p:pic>
        <p:nvPicPr>
          <p:cNvPr id="4" name="Content Placeholder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E4E6EB09-CC67-9A9C-E232-3BD4A41889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4156" y="1065144"/>
            <a:ext cx="5553540" cy="579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4188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68090-0FCC-8886-E5E6-2517310D0E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Break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B3EAC3-E3B9-87B5-231C-8C87A08FDE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38728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CFBBB-A52F-15DD-1D42-5EC0B8E3F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C000"/>
                </a:solidFill>
                <a:cs typeface="Arial"/>
              </a:rPr>
              <a:t>mapping</a:t>
            </a:r>
            <a:endParaRPr lang="en-GB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B4FE1-A803-06AD-883D-76C242297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5599" y="2052116"/>
            <a:ext cx="8304540" cy="4447771"/>
          </a:xfrm>
        </p:spPr>
        <p:txBody>
          <a:bodyPr>
            <a:normAutofit fontScale="92500"/>
          </a:bodyPr>
          <a:lstStyle/>
          <a:p>
            <a:pPr marL="344170" indent="-337820"/>
            <a:r>
              <a:rPr lang="en-GB">
                <a:cs typeface="Arial"/>
              </a:rPr>
              <a:t>Another type in solidity is the '</a:t>
            </a:r>
            <a:r>
              <a:rPr lang="en-GB">
                <a:solidFill>
                  <a:srgbClr val="FFC000"/>
                </a:solidFill>
                <a:cs typeface="Arial"/>
              </a:rPr>
              <a:t>mapping</a:t>
            </a:r>
            <a:r>
              <a:rPr lang="en-GB">
                <a:cs typeface="Arial"/>
              </a:rPr>
              <a:t>'</a:t>
            </a:r>
            <a:endParaRPr lang="en-US"/>
          </a:p>
          <a:p>
            <a:pPr marL="344170" indent="-337820"/>
            <a:r>
              <a:rPr lang="en-GB" dirty="0">
                <a:cs typeface="Arial"/>
              </a:rPr>
              <a:t>This is a </a:t>
            </a:r>
            <a:r>
              <a:rPr lang="en-GB">
                <a:cs typeface="Arial"/>
              </a:rPr>
              <a:t>HashMap</a:t>
            </a:r>
            <a:r>
              <a:rPr lang="en-GB" dirty="0">
                <a:cs typeface="Arial"/>
              </a:rPr>
              <a:t> or for Pythonistas a '</a:t>
            </a:r>
            <a:r>
              <a:rPr lang="en-GB">
                <a:cs typeface="Arial"/>
              </a:rPr>
              <a:t>dictionary</a:t>
            </a:r>
            <a:r>
              <a:rPr lang="en-GB" dirty="0">
                <a:cs typeface="Arial"/>
              </a:rPr>
              <a:t>'</a:t>
            </a:r>
          </a:p>
          <a:p>
            <a:pPr marL="344170" indent="-337820"/>
            <a:r>
              <a:rPr lang="en-GB">
                <a:cs typeface="Arial"/>
              </a:rPr>
              <a:t>It makes '</a:t>
            </a:r>
            <a:r>
              <a:rPr lang="en-GB">
                <a:solidFill>
                  <a:srgbClr val="FFC000"/>
                </a:solidFill>
                <a:cs typeface="Arial"/>
              </a:rPr>
              <a:t>key</a:t>
            </a:r>
            <a:r>
              <a:rPr lang="en-GB">
                <a:cs typeface="Arial"/>
              </a:rPr>
              <a:t>' -&gt; '</a:t>
            </a:r>
            <a:r>
              <a:rPr lang="en-GB">
                <a:solidFill>
                  <a:srgbClr val="FFC000"/>
                </a:solidFill>
                <a:cs typeface="Arial"/>
              </a:rPr>
              <a:t>value</a:t>
            </a:r>
            <a:r>
              <a:rPr lang="en-GB">
                <a:cs typeface="Arial"/>
              </a:rPr>
              <a:t>' pairs</a:t>
            </a:r>
            <a:endParaRPr lang="en-GB" dirty="0">
              <a:cs typeface="Arial"/>
            </a:endParaRPr>
          </a:p>
          <a:p>
            <a:pPr marL="344170" indent="-337820"/>
            <a:r>
              <a:rPr lang="en-GB">
                <a:cs typeface="Arial"/>
              </a:rPr>
              <a:t>Syntax to create:</a:t>
            </a:r>
            <a:endParaRPr lang="en-GB" dirty="0">
              <a:cs typeface="Arial"/>
            </a:endParaRPr>
          </a:p>
          <a:p>
            <a:pPr marL="344170" indent="-337820"/>
            <a:r>
              <a:rPr lang="en-GB" dirty="0">
                <a:solidFill>
                  <a:srgbClr val="FFC000"/>
                </a:solidFill>
                <a:cs typeface="Arial"/>
              </a:rPr>
              <a:t>mapping(&lt;</a:t>
            </a:r>
            <a:r>
              <a:rPr lang="en-GB" dirty="0" err="1">
                <a:solidFill>
                  <a:srgbClr val="FFC000"/>
                </a:solidFill>
                <a:cs typeface="Arial"/>
              </a:rPr>
              <a:t>KeyType</a:t>
            </a:r>
            <a:r>
              <a:rPr lang="en-GB" dirty="0">
                <a:solidFill>
                  <a:srgbClr val="FFC000"/>
                </a:solidFill>
                <a:cs typeface="Arial"/>
              </a:rPr>
              <a:t>&gt; =&gt; &lt;</a:t>
            </a:r>
            <a:r>
              <a:rPr lang="en-GB" dirty="0" err="1">
                <a:solidFill>
                  <a:srgbClr val="FFC000"/>
                </a:solidFill>
                <a:cs typeface="Arial"/>
              </a:rPr>
              <a:t>ValueType</a:t>
            </a:r>
            <a:r>
              <a:rPr lang="en-GB" dirty="0">
                <a:solidFill>
                  <a:srgbClr val="FFC000"/>
                </a:solidFill>
                <a:cs typeface="Arial"/>
              </a:rPr>
              <a:t>&gt;)</a:t>
            </a:r>
          </a:p>
          <a:p>
            <a:pPr marL="344170" indent="-337820"/>
            <a:r>
              <a:rPr lang="en-GB">
                <a:cs typeface="Arial"/>
              </a:rPr>
              <a:t>To get the value the syntax is:</a:t>
            </a:r>
            <a:endParaRPr lang="en-GB" dirty="0">
              <a:cs typeface="Arial"/>
            </a:endParaRPr>
          </a:p>
          <a:p>
            <a:pPr marL="344170" indent="-337820"/>
            <a:r>
              <a:rPr lang="en-GB" dirty="0">
                <a:solidFill>
                  <a:srgbClr val="FFC000"/>
                </a:solidFill>
                <a:cs typeface="Arial"/>
              </a:rPr>
              <a:t>&lt;</a:t>
            </a:r>
            <a:r>
              <a:rPr lang="en-GB" dirty="0" err="1">
                <a:solidFill>
                  <a:srgbClr val="FFC000"/>
                </a:solidFill>
                <a:cs typeface="Arial"/>
              </a:rPr>
              <a:t>mapping_var</a:t>
            </a:r>
            <a:r>
              <a:rPr lang="en-GB" dirty="0">
                <a:solidFill>
                  <a:srgbClr val="FFC000"/>
                </a:solidFill>
                <a:cs typeface="Arial"/>
              </a:rPr>
              <a:t>&gt;[&lt;key&gt;]</a:t>
            </a:r>
          </a:p>
          <a:p>
            <a:pPr marL="344170" indent="-337820"/>
            <a:r>
              <a:rPr lang="en-GB">
                <a:cs typeface="Arial"/>
              </a:rPr>
              <a:t>The default value for an unrecognised key is '0'</a:t>
            </a:r>
            <a:endParaRPr lang="en-GB" dirty="0">
              <a:cs typeface="Arial"/>
            </a:endParaRPr>
          </a:p>
          <a:p>
            <a:pPr marL="344170" indent="-337820"/>
            <a:r>
              <a:rPr lang="en-GB">
                <a:cs typeface="Arial"/>
              </a:rPr>
              <a:t>The keys can only be simple types (no mapping/arrays/custom types)</a:t>
            </a:r>
            <a:endParaRPr lang="en-GB" dirty="0">
              <a:cs typeface="Arial"/>
            </a:endParaRPr>
          </a:p>
          <a:p>
            <a:pPr marL="344170" indent="-337820"/>
            <a:endParaRPr lang="en-GB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331354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B3665-4AFB-0F8A-8D79-947B96767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>
                <a:cs typeface="Arial"/>
              </a:rPr>
              <a:t>MultiCounter</a:t>
            </a:r>
            <a:endParaRPr lang="en-GB" err="1"/>
          </a:p>
        </p:txBody>
      </p:sp>
      <p:pic>
        <p:nvPicPr>
          <p:cNvPr id="4" name="Content Placeholder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0A7951A3-3CBA-7C75-B2B5-EAB529DD82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6074" y="2207942"/>
            <a:ext cx="8702674" cy="415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56837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76C52-49BD-B210-CF72-91E04BBAE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C000"/>
                </a:solidFill>
                <a:cs typeface="Arial"/>
              </a:rPr>
              <a:t>fixed-size array</a:t>
            </a:r>
            <a:r>
              <a:rPr lang="en-GB" dirty="0">
                <a:cs typeface="Arial"/>
              </a:rPr>
              <a:t> and </a:t>
            </a:r>
            <a:r>
              <a:rPr lang="en-GB">
                <a:solidFill>
                  <a:srgbClr val="FFC000"/>
                </a:solidFill>
                <a:cs typeface="Arial"/>
              </a:rPr>
              <a:t>dynamic array</a:t>
            </a:r>
            <a:endParaRPr lang="en-GB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772F5-4DAA-CBE3-97DF-2FDFF2025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3942" y="1885202"/>
            <a:ext cx="7956197" cy="4469542"/>
          </a:xfrm>
        </p:spPr>
        <p:txBody>
          <a:bodyPr>
            <a:normAutofit lnSpcReduction="10000"/>
          </a:bodyPr>
          <a:lstStyle/>
          <a:p>
            <a:pPr marL="344170" indent="-337820"/>
            <a:r>
              <a:rPr lang="en-GB" dirty="0">
                <a:cs typeface="Arial"/>
              </a:rPr>
              <a:t>Solidity has both a fixed-size array, where the size is defined at </a:t>
            </a:r>
            <a:r>
              <a:rPr lang="en-GB" dirty="0">
                <a:ea typeface="+mn-lt"/>
                <a:cs typeface="+mn-lt"/>
              </a:rPr>
              <a:t>initialisation</a:t>
            </a:r>
            <a:r>
              <a:rPr lang="en-GB" dirty="0">
                <a:cs typeface="Arial"/>
              </a:rPr>
              <a:t>, and dynamic-size arrays where</a:t>
            </a:r>
            <a:r>
              <a:rPr lang="en-GB">
                <a:cs typeface="Arial"/>
              </a:rPr>
              <a:t> elements can keep being added</a:t>
            </a:r>
          </a:p>
          <a:p>
            <a:pPr marL="344170" indent="-337820"/>
            <a:r>
              <a:rPr lang="en-GB">
                <a:cs typeface="Arial"/>
              </a:rPr>
              <a:t>The syntax is:</a:t>
            </a:r>
          </a:p>
          <a:p>
            <a:pPr marL="344170" indent="-337820"/>
            <a:r>
              <a:rPr lang="en-GB">
                <a:solidFill>
                  <a:srgbClr val="FFC000"/>
                </a:solidFill>
                <a:cs typeface="Arial"/>
              </a:rPr>
              <a:t>&lt;Type&gt;[&lt;Length&gt;]</a:t>
            </a:r>
          </a:p>
          <a:p>
            <a:pPr marL="344170" indent="-337820"/>
            <a:r>
              <a:rPr lang="en-GB">
                <a:cs typeface="Arial"/>
              </a:rPr>
              <a:t>For dynamic-size arrays, the length is excluded</a:t>
            </a:r>
          </a:p>
          <a:p>
            <a:pPr marL="344170" indent="-337820"/>
            <a:r>
              <a:rPr lang="en-GB">
                <a:cs typeface="Arial"/>
              </a:rPr>
              <a:t>An array of 5 dynamic arrays of </a:t>
            </a:r>
            <a:r>
              <a:rPr lang="en-GB">
                <a:solidFill>
                  <a:srgbClr val="FFC000"/>
                </a:solidFill>
                <a:cs typeface="Arial"/>
              </a:rPr>
              <a:t>uint256s</a:t>
            </a:r>
            <a:r>
              <a:rPr lang="en-GB">
                <a:cs typeface="Arial"/>
              </a:rPr>
              <a:t> would be '</a:t>
            </a:r>
            <a:r>
              <a:rPr lang="en-GB">
                <a:solidFill>
                  <a:srgbClr val="FFC000"/>
                </a:solidFill>
                <a:cs typeface="Arial"/>
              </a:rPr>
              <a:t>uint256[][5]</a:t>
            </a:r>
            <a:r>
              <a:rPr lang="en-GB">
                <a:cs typeface="Arial"/>
              </a:rPr>
              <a:t>'</a:t>
            </a:r>
          </a:p>
          <a:p>
            <a:pPr marL="344170" indent="-337820"/>
            <a:r>
              <a:rPr lang="en-GB">
                <a:cs typeface="Arial"/>
              </a:rPr>
              <a:t>The arrays have '</a:t>
            </a:r>
            <a:r>
              <a:rPr lang="en-GB">
                <a:solidFill>
                  <a:srgbClr val="FFC000"/>
                </a:solidFill>
                <a:cs typeface="Arial"/>
              </a:rPr>
              <a:t>.push(x)</a:t>
            </a:r>
            <a:r>
              <a:rPr lang="en-GB">
                <a:cs typeface="Arial"/>
              </a:rPr>
              <a:t>', '</a:t>
            </a:r>
            <a:r>
              <a:rPr lang="en-GB">
                <a:solidFill>
                  <a:srgbClr val="FFC000"/>
                </a:solidFill>
                <a:cs typeface="Arial"/>
              </a:rPr>
              <a:t>.pop()</a:t>
            </a:r>
            <a:r>
              <a:rPr lang="en-GB">
                <a:cs typeface="Arial"/>
              </a:rPr>
              <a:t>', and '</a:t>
            </a:r>
            <a:r>
              <a:rPr lang="en-GB">
                <a:solidFill>
                  <a:srgbClr val="FFC000"/>
                </a:solidFill>
                <a:cs typeface="Arial"/>
              </a:rPr>
              <a:t>.length</a:t>
            </a:r>
            <a:r>
              <a:rPr lang="en-GB">
                <a:cs typeface="Arial"/>
              </a:rPr>
              <a:t>'</a:t>
            </a:r>
          </a:p>
          <a:p>
            <a:pPr marL="344170" indent="-337820"/>
            <a:r>
              <a:rPr lang="en-GB" dirty="0">
                <a:cs typeface="Arial"/>
              </a:rPr>
              <a:t>A '</a:t>
            </a:r>
            <a:r>
              <a:rPr lang="en-GB" dirty="0">
                <a:solidFill>
                  <a:srgbClr val="FFC000"/>
                </a:solidFill>
                <a:cs typeface="Arial"/>
              </a:rPr>
              <a:t>string</a:t>
            </a:r>
            <a:r>
              <a:rPr lang="en-GB" dirty="0">
                <a:cs typeface="Arial"/>
              </a:rPr>
              <a:t>' counts as a '</a:t>
            </a:r>
            <a:r>
              <a:rPr lang="en-GB" dirty="0">
                <a:solidFill>
                  <a:srgbClr val="FFC000"/>
                </a:solidFill>
                <a:cs typeface="Arial"/>
              </a:rPr>
              <a:t>fixed-size array</a:t>
            </a:r>
            <a:r>
              <a:rPr lang="en-GB" dirty="0">
                <a:cs typeface="Arial"/>
              </a:rPr>
              <a:t>' and '</a:t>
            </a:r>
            <a:r>
              <a:rPr lang="en-GB" dirty="0">
                <a:solidFill>
                  <a:srgbClr val="FFC000"/>
                </a:solidFill>
                <a:cs typeface="Arial"/>
              </a:rPr>
              <a:t>bytes</a:t>
            </a:r>
            <a:r>
              <a:rPr lang="en-GB" dirty="0">
                <a:cs typeface="Arial"/>
              </a:rPr>
              <a:t>' counts as a '</a:t>
            </a:r>
            <a:r>
              <a:rPr lang="en-GB" dirty="0">
                <a:solidFill>
                  <a:srgbClr val="FFC000"/>
                </a:solidFill>
                <a:cs typeface="Arial"/>
              </a:rPr>
              <a:t>dynamic array</a:t>
            </a:r>
            <a:r>
              <a:rPr lang="en-GB" dirty="0">
                <a:cs typeface="Arial"/>
              </a:rPr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206562870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5CE5C-253F-D6AE-8138-483095404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>
                <a:cs typeface="Arial"/>
              </a:rPr>
              <a:t>MultiCounter</a:t>
            </a:r>
            <a:r>
              <a:rPr lang="en-GB">
                <a:cs typeface="Arial"/>
              </a:rPr>
              <a:t> v2.0</a:t>
            </a:r>
            <a:endParaRPr lang="en-GB"/>
          </a:p>
        </p:txBody>
      </p:sp>
      <p:pic>
        <p:nvPicPr>
          <p:cNvPr id="4" name="Content Placeholder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3AD5F049-3899-C9D5-9E8D-9B7821ACCD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0056" y="2282070"/>
            <a:ext cx="9269740" cy="3668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00417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C8AD5-C9CC-0589-A835-F55B85588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Variable Visibility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572BE-1193-131A-8526-B9D41C6EB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>
                <a:solidFill>
                  <a:srgbClr val="FFC000"/>
                </a:solidFill>
                <a:cs typeface="Arial"/>
              </a:rPr>
              <a:t>public </a:t>
            </a:r>
            <a:r>
              <a:rPr lang="en-GB">
                <a:cs typeface="Arial"/>
              </a:rPr>
              <a:t>– creates a getter function automatically, that is an '</a:t>
            </a:r>
            <a:r>
              <a:rPr lang="en-GB">
                <a:solidFill>
                  <a:srgbClr val="FFC000"/>
                </a:solidFill>
                <a:cs typeface="Arial"/>
              </a:rPr>
              <a:t>external view</a:t>
            </a:r>
            <a:r>
              <a:rPr lang="en-GB">
                <a:cs typeface="Arial"/>
              </a:rPr>
              <a:t>', for arrays/mapping, the arguments specify the index/key</a:t>
            </a:r>
          </a:p>
          <a:p>
            <a:pPr marL="344170" indent="-337820"/>
            <a:r>
              <a:rPr lang="en-GB" dirty="0">
                <a:solidFill>
                  <a:srgbClr val="FFC000"/>
                </a:solidFill>
                <a:cs typeface="Arial"/>
              </a:rPr>
              <a:t>private </a:t>
            </a:r>
            <a:r>
              <a:rPr lang="en-GB" dirty="0">
                <a:cs typeface="Arial"/>
              </a:rPr>
              <a:t>– the variable is not </a:t>
            </a:r>
            <a:r>
              <a:rPr lang="en-GB">
                <a:cs typeface="Arial"/>
              </a:rPr>
              <a:t>inherited</a:t>
            </a:r>
          </a:p>
          <a:p>
            <a:pPr marL="344170" indent="-337820"/>
            <a:r>
              <a:rPr lang="en-GB">
                <a:solidFill>
                  <a:srgbClr val="FFC000"/>
                </a:solidFill>
                <a:cs typeface="Arial"/>
              </a:rPr>
              <a:t>internal </a:t>
            </a:r>
            <a:r>
              <a:rPr lang="en-GB">
                <a:cs typeface="Arial"/>
              </a:rPr>
              <a:t>– no real use, just for other programmers to know, like in python</a:t>
            </a:r>
          </a:p>
        </p:txBody>
      </p:sp>
    </p:spTree>
    <p:extLst>
      <p:ext uri="{BB962C8B-B14F-4D97-AF65-F5344CB8AC3E}">
        <p14:creationId xmlns:p14="http://schemas.microsoft.com/office/powerpoint/2010/main" val="10767078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C6DB3-4733-CC9A-0512-CD2BE8C90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Public Counter</a:t>
            </a:r>
            <a:endParaRPr lang="en-GB"/>
          </a:p>
        </p:txBody>
      </p:sp>
      <p:pic>
        <p:nvPicPr>
          <p:cNvPr id="4" name="Content Placeholder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D26615C4-C733-957D-AAB8-BC82FAE5F2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5714" y="1890184"/>
            <a:ext cx="9458425" cy="374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79052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30F4C-609A-5341-9FE5-B9665E184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Variable Modifiers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DFF1E-B5FD-D4A5-26DA-D8A16B3DC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>
                <a:solidFill>
                  <a:srgbClr val="FFC000"/>
                </a:solidFill>
                <a:cs typeface="Arial"/>
              </a:rPr>
              <a:t>memory </a:t>
            </a:r>
            <a:r>
              <a:rPr lang="en-GB">
                <a:cs typeface="Arial"/>
              </a:rPr>
              <a:t>- pass variable by value and copy into memory until the end of the function</a:t>
            </a:r>
          </a:p>
          <a:p>
            <a:pPr marL="344170" indent="-337820"/>
            <a:r>
              <a:rPr lang="en-GB">
                <a:solidFill>
                  <a:srgbClr val="FFC000"/>
                </a:solidFill>
                <a:cs typeface="Arial"/>
              </a:rPr>
              <a:t>constant </a:t>
            </a:r>
            <a:r>
              <a:rPr lang="en-GB">
                <a:cs typeface="Arial"/>
              </a:rPr>
              <a:t>– the value is constant, and set at compile time (same between deployments)</a:t>
            </a:r>
          </a:p>
          <a:p>
            <a:pPr marL="344170" indent="-337820"/>
            <a:r>
              <a:rPr lang="en-GB" dirty="0">
                <a:solidFill>
                  <a:srgbClr val="FFC000"/>
                </a:solidFill>
                <a:cs typeface="Arial"/>
              </a:rPr>
              <a:t>immutable </a:t>
            </a:r>
            <a:r>
              <a:rPr lang="en-GB" dirty="0">
                <a:cs typeface="Arial"/>
              </a:rPr>
              <a:t>– the value is constant, and set at </a:t>
            </a:r>
            <a:r>
              <a:rPr lang="en-GB">
                <a:cs typeface="Arial"/>
              </a:rPr>
              <a:t>construction</a:t>
            </a:r>
            <a:r>
              <a:rPr lang="en-GB" dirty="0">
                <a:cs typeface="Arial"/>
              </a:rPr>
              <a:t> time (might be different between deployments)</a:t>
            </a:r>
          </a:p>
        </p:txBody>
      </p:sp>
    </p:spTree>
    <p:extLst>
      <p:ext uri="{BB962C8B-B14F-4D97-AF65-F5344CB8AC3E}">
        <p14:creationId xmlns:p14="http://schemas.microsoft.com/office/powerpoint/2010/main" val="189508585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32323-8B13-8090-30BC-7F487BE80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0000"/>
                </a:solidFill>
                <a:cs typeface="Arial"/>
              </a:rPr>
              <a:t>--gas-limit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10292-8806-DDE5-54ED-221F40A2C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 dirty="0">
                <a:cs typeface="Arial"/>
              </a:rPr>
              <a:t>For transactions sent, they normally use the smallest gas </a:t>
            </a:r>
            <a:r>
              <a:rPr lang="en-GB">
                <a:cs typeface="Arial"/>
              </a:rPr>
              <a:t>amount possible by sending a query to estimate the amount of gas that will be used, then sending a bit more then that</a:t>
            </a:r>
          </a:p>
          <a:p>
            <a:pPr marL="344170" indent="-337820"/>
            <a:r>
              <a:rPr lang="en-GB">
                <a:cs typeface="Arial"/>
              </a:rPr>
              <a:t>In case this can't happen, </a:t>
            </a:r>
            <a:r>
              <a:rPr lang="en-GB">
                <a:solidFill>
                  <a:srgbClr val="FF0000"/>
                </a:solidFill>
                <a:cs typeface="Arial"/>
              </a:rPr>
              <a:t>cast </a:t>
            </a:r>
            <a:r>
              <a:rPr lang="en-GB">
                <a:cs typeface="Arial"/>
              </a:rPr>
              <a:t>supports setting the gas limit yourself with </a:t>
            </a:r>
            <a:r>
              <a:rPr lang="en-GB">
                <a:solidFill>
                  <a:srgbClr val="FF0000"/>
                </a:solidFill>
                <a:cs typeface="Arial"/>
              </a:rPr>
              <a:t>--gas-limit &lt;value&gt;</a:t>
            </a:r>
            <a:endParaRPr lang="en-GB" dirty="0">
              <a:solidFill>
                <a:srgbClr val="FFFFFF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6882812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76DBF-7250-017D-5886-42654BF7D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Pico CTF Warning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F8CC9-A382-7F8D-5684-AB6671A28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 dirty="0">
                <a:cs typeface="Arial"/>
              </a:rPr>
              <a:t>For the </a:t>
            </a:r>
            <a:r>
              <a:rPr lang="en-GB" err="1">
                <a:cs typeface="Arial"/>
              </a:rPr>
              <a:t>PicoCTF</a:t>
            </a:r>
            <a:r>
              <a:rPr lang="en-GB">
                <a:cs typeface="Arial"/>
              </a:rPr>
              <a:t> challenges, normally the entire blockchain can be read, and so the flag can just be read off the blockchain </a:t>
            </a:r>
            <a:endParaRPr lang="en-US"/>
          </a:p>
          <a:p>
            <a:pPr marL="344170" indent="-337820"/>
            <a:r>
              <a:rPr lang="en-GB" dirty="0">
                <a:cs typeface="Arial"/>
              </a:rPr>
              <a:t>To stop </a:t>
            </a:r>
            <a:r>
              <a:rPr lang="en-GB">
                <a:cs typeface="Arial"/>
              </a:rPr>
              <a:t>this,</a:t>
            </a:r>
            <a:r>
              <a:rPr lang="en-GB" dirty="0">
                <a:cs typeface="Arial"/>
              </a:rPr>
              <a:t> they removed the ability to read the blockchain and therefore make and </a:t>
            </a:r>
            <a:r>
              <a:rPr lang="en-GB" dirty="0">
                <a:solidFill>
                  <a:srgbClr val="FF0000"/>
                </a:solidFill>
                <a:cs typeface="Arial"/>
              </a:rPr>
              <a:t>cast call</a:t>
            </a:r>
            <a:r>
              <a:rPr lang="en-GB" dirty="0">
                <a:cs typeface="Arial"/>
              </a:rPr>
              <a:t> requests, or to estimate gas</a:t>
            </a:r>
          </a:p>
          <a:p>
            <a:pPr marL="344170" indent="-337820"/>
            <a:r>
              <a:rPr lang="en-GB">
                <a:cs typeface="Arial"/>
              </a:rPr>
              <a:t>So,</a:t>
            </a:r>
            <a:r>
              <a:rPr lang="en-GB" dirty="0">
                <a:cs typeface="Arial"/>
              </a:rPr>
              <a:t> you will need to set the gas limit yourselves</a:t>
            </a:r>
          </a:p>
        </p:txBody>
      </p:sp>
    </p:spTree>
    <p:extLst>
      <p:ext uri="{BB962C8B-B14F-4D97-AF65-F5344CB8AC3E}">
        <p14:creationId xmlns:p14="http://schemas.microsoft.com/office/powerpoint/2010/main" val="156953730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9C0ED-AF53-64EC-8789-38E0532A59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Access Control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D1DF68-7D51-C58C-AEF1-358AAEA72D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err="1">
                <a:cs typeface="Arial"/>
              </a:rPr>
              <a:t>PicoCTF</a:t>
            </a:r>
            <a:r>
              <a:rPr lang="en-GB">
                <a:cs typeface="Arial"/>
              </a:rPr>
              <a:t>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56817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65502-A4FE-E0B2-0BDC-5C8C4F921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Custom Modifiers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853FD-1049-4D63-BA7D-73CCCC3ED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 dirty="0">
                <a:cs typeface="Arial"/>
              </a:rPr>
              <a:t>Instead of the same code being repeated at the top/bottom of multiple functions, just like with </a:t>
            </a:r>
            <a:r>
              <a:rPr lang="en-GB">
                <a:ea typeface="+mn-lt"/>
                <a:cs typeface="+mn-lt"/>
              </a:rPr>
              <a:t>decorators </a:t>
            </a:r>
            <a:r>
              <a:rPr lang="en-GB">
                <a:cs typeface="Arial"/>
              </a:rPr>
              <a:t>in python, custom modifiers can be made</a:t>
            </a:r>
          </a:p>
          <a:p>
            <a:pPr marL="344170" indent="-337820"/>
            <a:r>
              <a:rPr lang="en-GB">
                <a:cs typeface="Arial"/>
              </a:rPr>
              <a:t>The modifiers on a function run left to right</a:t>
            </a:r>
          </a:p>
        </p:txBody>
      </p:sp>
    </p:spTree>
    <p:extLst>
      <p:ext uri="{BB962C8B-B14F-4D97-AF65-F5344CB8AC3E}">
        <p14:creationId xmlns:p14="http://schemas.microsoft.com/office/powerpoint/2010/main" val="108411853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52E36-1442-D9F5-5D42-E04F2A828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Modified Set</a:t>
            </a:r>
            <a:endParaRPr lang="en-US"/>
          </a:p>
        </p:txBody>
      </p:sp>
      <p:pic>
        <p:nvPicPr>
          <p:cNvPr id="4" name="Content Placeholder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ECC1E16-C7D3-B03D-20EB-8C920D7569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0319" y="1348174"/>
            <a:ext cx="6008815" cy="534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64344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8F051-17A8-E40E-F157-9191D605B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C000"/>
                </a:solidFill>
                <a:cs typeface="Arial"/>
              </a:rPr>
              <a:t>checked </a:t>
            </a:r>
            <a:r>
              <a:rPr lang="en-GB">
                <a:cs typeface="Arial"/>
              </a:rPr>
              <a:t>vs </a:t>
            </a:r>
            <a:r>
              <a:rPr lang="en-GB">
                <a:solidFill>
                  <a:srgbClr val="FFC000"/>
                </a:solidFill>
                <a:cs typeface="Arial"/>
              </a:rPr>
              <a:t>unchecked</a:t>
            </a:r>
            <a:endParaRPr lang="en-GB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0AC94-7B06-2CA2-4320-B5D9A461C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>
                <a:cs typeface="Arial"/>
              </a:rPr>
              <a:t>Since solidity version </a:t>
            </a:r>
            <a:r>
              <a:rPr lang="en-GB">
                <a:solidFill>
                  <a:srgbClr val="FFC000"/>
                </a:solidFill>
                <a:cs typeface="Arial"/>
              </a:rPr>
              <a:t>0.8.0</a:t>
            </a:r>
            <a:r>
              <a:rPr lang="en-GB">
                <a:cs typeface="Arial"/>
              </a:rPr>
              <a:t> and after, integer overflows/underflows cause the transaction to fail except when done by bitwise operators</a:t>
            </a:r>
          </a:p>
          <a:p>
            <a:pPr marL="344170" indent="-337820"/>
            <a:r>
              <a:rPr lang="en-GB" dirty="0">
                <a:cs typeface="Arial"/>
              </a:rPr>
              <a:t>This can be gotten </a:t>
            </a:r>
            <a:r>
              <a:rPr lang="en-GB">
                <a:cs typeface="Arial"/>
              </a:rPr>
              <a:t>around by placing the math in an </a:t>
            </a:r>
            <a:r>
              <a:rPr lang="en-GB">
                <a:solidFill>
                  <a:srgbClr val="FFC000"/>
                </a:solidFill>
                <a:cs typeface="Arial"/>
              </a:rPr>
              <a:t>unchecked </a:t>
            </a:r>
            <a:r>
              <a:rPr lang="en-GB">
                <a:cs typeface="Arial"/>
              </a:rPr>
              <a:t>block</a:t>
            </a:r>
          </a:p>
          <a:p>
            <a:pPr marL="344170" indent="-337820"/>
            <a:r>
              <a:rPr lang="en-GB">
                <a:solidFill>
                  <a:srgbClr val="FFC000"/>
                </a:solidFill>
                <a:cs typeface="Arial"/>
              </a:rPr>
              <a:t>unchecked { uint8 a = uint8(255) + uint8(1) }</a:t>
            </a:r>
            <a:endParaRPr lang="en-GB" dirty="0">
              <a:solidFill>
                <a:srgbClr val="FFC000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67243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8F909-F0ED-1D41-1828-F0C7BC918C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5700" err="1">
                <a:cs typeface="Arial" panose="020B0604020202020204"/>
              </a:rPr>
              <a:t>IntOverflowBank</a:t>
            </a:r>
            <a:endParaRPr lang="en-GB" sz="5700">
              <a:cs typeface="Arial" panose="020B060402020202020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EF364F-7215-541C-1411-2F7B3A215E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err="1">
                <a:cs typeface="Arial"/>
              </a:rPr>
              <a:t>PicoCTF</a:t>
            </a:r>
            <a:r>
              <a:rPr lang="en-GB">
                <a:cs typeface="Arial"/>
              </a:rPr>
              <a:t>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18636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B3A4-02B1-129E-3FD7-97FE131D3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C000"/>
                </a:solidFill>
                <a:cs typeface="Arial"/>
              </a:rPr>
              <a:t>interface</a:t>
            </a:r>
            <a:endParaRPr lang="en-GB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228C5-3791-CA2E-1FE2-139D95CB9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2052116"/>
            <a:ext cx="7796540" cy="2110972"/>
          </a:xfrm>
        </p:spPr>
        <p:txBody>
          <a:bodyPr/>
          <a:lstStyle/>
          <a:p>
            <a:pPr marL="344170" indent="-337820"/>
            <a:r>
              <a:rPr lang="en-GB" dirty="0">
                <a:cs typeface="Arial"/>
              </a:rPr>
              <a:t>An interface is a way to tell programs how it can interact with other contracts, </a:t>
            </a:r>
            <a:r>
              <a:rPr lang="en-GB">
                <a:cs typeface="Arial"/>
              </a:rPr>
              <a:t>without implementing the other contracts themselves</a:t>
            </a:r>
          </a:p>
          <a:p>
            <a:pPr marL="344170" indent="-337820"/>
            <a:r>
              <a:rPr lang="en-GB">
                <a:cs typeface="Arial"/>
              </a:rPr>
              <a:t>It is like defining an API for the other contracts</a:t>
            </a:r>
          </a:p>
        </p:txBody>
      </p:sp>
      <p:pic>
        <p:nvPicPr>
          <p:cNvPr id="5" name="Picture 4" descr="A computer code on a blue background&#10;&#10;AI-generated content may be incorrect.">
            <a:extLst>
              <a:ext uri="{FF2B5EF4-FFF2-40B4-BE49-F238E27FC236}">
                <a16:creationId xmlns:a16="http://schemas.microsoft.com/office/drawing/2014/main" id="{E9907CDE-7A5F-462F-B6ED-CFBE7A025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857" y="4162425"/>
            <a:ext cx="7794171" cy="138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16820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377E4-9C01-2121-2892-A8880925F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call </a:t>
            </a:r>
            <a:r>
              <a:rPr lang="en-GB">
                <a:solidFill>
                  <a:srgbClr val="FFC000"/>
                </a:solidFill>
                <a:cs typeface="Arial"/>
              </a:rPr>
              <a:t>functions </a:t>
            </a:r>
            <a:r>
              <a:rPr lang="en-GB">
                <a:cs typeface="Arial"/>
              </a:rPr>
              <a:t>of an </a:t>
            </a:r>
            <a:r>
              <a:rPr lang="en-GB">
                <a:solidFill>
                  <a:srgbClr val="FFC000"/>
                </a:solidFill>
                <a:cs typeface="Arial"/>
              </a:rPr>
              <a:t>interface</a:t>
            </a:r>
            <a:endParaRPr lang="en-GB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CD7E0-3CBC-796E-E5C6-95AEE6678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 dirty="0">
                <a:cs typeface="Arial"/>
              </a:rPr>
              <a:t>To use a contract after it is defined, an address can be mapped to an interface so the contract behind the address can </a:t>
            </a:r>
            <a:r>
              <a:rPr lang="en-GB">
                <a:cs typeface="Arial"/>
              </a:rPr>
              <a:t>be interacted</a:t>
            </a:r>
            <a:r>
              <a:rPr lang="en-GB" dirty="0">
                <a:cs typeface="Arial"/>
              </a:rPr>
              <a:t> with</a:t>
            </a:r>
          </a:p>
          <a:p>
            <a:pPr marL="344170" indent="-337820"/>
            <a:r>
              <a:rPr lang="en-GB" dirty="0">
                <a:cs typeface="Arial"/>
              </a:rPr>
              <a:t>This is done by '</a:t>
            </a:r>
            <a:r>
              <a:rPr lang="en-GB" dirty="0">
                <a:solidFill>
                  <a:srgbClr val="FFC000"/>
                </a:solidFill>
                <a:cs typeface="Arial"/>
              </a:rPr>
              <a:t>&lt;</a:t>
            </a:r>
            <a:r>
              <a:rPr lang="en-GB" err="1">
                <a:solidFill>
                  <a:srgbClr val="FFC000"/>
                </a:solidFill>
                <a:cs typeface="Arial"/>
              </a:rPr>
              <a:t>InterfaceName</a:t>
            </a:r>
            <a:r>
              <a:rPr lang="en-GB" dirty="0">
                <a:solidFill>
                  <a:srgbClr val="FFC000"/>
                </a:solidFill>
                <a:cs typeface="Arial"/>
              </a:rPr>
              <a:t>&gt;(&lt;ADDR&gt;)</a:t>
            </a:r>
            <a:r>
              <a:rPr lang="en-GB" dirty="0">
                <a:cs typeface="Arial"/>
              </a:rPr>
              <a:t>', then the </a:t>
            </a:r>
            <a:r>
              <a:rPr lang="en-GB">
                <a:cs typeface="Arial"/>
              </a:rPr>
              <a:t>functions are called as methods of the interface object</a:t>
            </a:r>
          </a:p>
        </p:txBody>
      </p:sp>
    </p:spTree>
    <p:extLst>
      <p:ext uri="{BB962C8B-B14F-4D97-AF65-F5344CB8AC3E}">
        <p14:creationId xmlns:p14="http://schemas.microsoft.com/office/powerpoint/2010/main" val="424692930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DF30C-21A8-591F-78E0-A71AA3155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Donation chest Skimmer</a:t>
            </a:r>
            <a:endParaRPr lang="en-GB"/>
          </a:p>
        </p:txBody>
      </p:sp>
      <p:pic>
        <p:nvPicPr>
          <p:cNvPr id="4" name="Content Placeholder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C0CFFDF0-50F2-4F89-DFE9-D8EDE1B968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1816" y="1348173"/>
            <a:ext cx="7387133" cy="534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68732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7CAAE-68A5-962F-56C2-07AC492578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Chains of Power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BE7E3F-AD7E-7A7A-2924-EC8E37537C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>
                <a:cs typeface="Arial"/>
              </a:rPr>
              <a:t>Australian</a:t>
            </a:r>
            <a:r>
              <a:rPr lang="en-GB" dirty="0">
                <a:cs typeface="Arial"/>
              </a:rPr>
              <a:t> Cyber Games 2025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682177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2BA0B-90F6-586F-A044-4479154EF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>
                <a:cs typeface="Arial"/>
              </a:rPr>
              <a:t>Reentrancy</a:t>
            </a:r>
            <a:endParaRPr lang="en-GB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B4FF3-A8E3-26D9-2634-66FAB7844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1885202"/>
            <a:ext cx="7796540" cy="4745313"/>
          </a:xfrm>
        </p:spPr>
        <p:txBody>
          <a:bodyPr>
            <a:normAutofit/>
          </a:bodyPr>
          <a:lstStyle/>
          <a:p>
            <a:pPr marL="344170" indent="-337820"/>
            <a:r>
              <a:rPr lang="en-GB">
                <a:cs typeface="Arial"/>
              </a:rPr>
              <a:t>When one contract calls another contract, the first contracts execution is put on hold until the second contract replies that its side of the transaction was successful</a:t>
            </a:r>
          </a:p>
          <a:p>
            <a:pPr marL="344170" indent="-337820"/>
            <a:r>
              <a:rPr lang="en-GB" dirty="0">
                <a:cs typeface="Arial"/>
              </a:rPr>
              <a:t>This can be exploited as the contrac</a:t>
            </a:r>
            <a:r>
              <a:rPr lang="en-GB">
                <a:cs typeface="Arial"/>
              </a:rPr>
              <a:t>t called can recall functions in the original contract to bypass checks</a:t>
            </a:r>
          </a:p>
          <a:p>
            <a:pPr marL="344170" indent="-337820"/>
            <a:r>
              <a:rPr lang="en-GB" dirty="0">
                <a:cs typeface="Arial"/>
              </a:rPr>
              <a:t>E.g. if at an ATM you selected to withdraw $100 dollars, and the program checked you had $100, but would only minus it from your account when you clicked 'Confirm' but before you did, on the same ATM you started another request to withdraw $100 and you still the same $100 from before, it </a:t>
            </a:r>
            <a:r>
              <a:rPr lang="en-GB">
                <a:cs typeface="Arial"/>
              </a:rPr>
              <a:t>would offer then money, then you can click 'Confirm' on both and get $200 even if your account only had $100</a:t>
            </a:r>
            <a:endParaRPr lang="en-GB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271493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9E20C-EEBD-FD9C-CC5F-D99112568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C000"/>
                </a:solidFill>
                <a:cs typeface="Arial"/>
              </a:rPr>
              <a:t>Check</a:t>
            </a:r>
            <a:r>
              <a:rPr lang="en-GB">
                <a:solidFill>
                  <a:srgbClr val="FFFFFF"/>
                </a:solidFill>
                <a:cs typeface="Arial"/>
              </a:rPr>
              <a:t>-</a:t>
            </a:r>
            <a:r>
              <a:rPr lang="en-GB">
                <a:solidFill>
                  <a:srgbClr val="FFC000"/>
                </a:solidFill>
                <a:cs typeface="Arial"/>
              </a:rPr>
              <a:t>Effects</a:t>
            </a:r>
            <a:r>
              <a:rPr lang="en-GB">
                <a:solidFill>
                  <a:srgbClr val="FFFFFF"/>
                </a:solidFill>
                <a:cs typeface="Arial"/>
              </a:rPr>
              <a:t>-</a:t>
            </a:r>
            <a:r>
              <a:rPr lang="en-GB">
                <a:solidFill>
                  <a:srgbClr val="FFC000"/>
                </a:solidFill>
                <a:cs typeface="Arial"/>
              </a:rPr>
              <a:t>Interactions</a:t>
            </a:r>
            <a:r>
              <a:rPr lang="en-GB" dirty="0">
                <a:solidFill>
                  <a:srgbClr val="FFC000"/>
                </a:solidFill>
                <a:cs typeface="Arial"/>
              </a:rPr>
              <a:t> </a:t>
            </a:r>
            <a:r>
              <a:rPr lang="en-GB">
                <a:cs typeface="Arial"/>
              </a:rPr>
              <a:t>Pattern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4C2A6-9EED-91B3-C9A7-239BDAA83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4170" indent="-337820"/>
            <a:r>
              <a:rPr lang="en-GB" dirty="0">
                <a:cs typeface="Arial"/>
              </a:rPr>
              <a:t>The </a:t>
            </a:r>
            <a:r>
              <a:rPr lang="en-GB" dirty="0" err="1">
                <a:cs typeface="Arial"/>
              </a:rPr>
              <a:t>Reentrancy</a:t>
            </a:r>
            <a:r>
              <a:rPr lang="en-GB" dirty="0">
                <a:cs typeface="Arial"/>
              </a:rPr>
              <a:t> problem comes from if your contract works in the order:</a:t>
            </a:r>
            <a:endParaRPr lang="en-US" dirty="0">
              <a:cs typeface="Arial" panose="020B0604020202020204"/>
            </a:endParaRPr>
          </a:p>
          <a:p>
            <a:pPr marL="800100" lvl="1" indent="-342900">
              <a:buAutoNum type="arabicPeriod"/>
            </a:pPr>
            <a:r>
              <a:rPr lang="en-GB">
                <a:cs typeface="Arial"/>
              </a:rPr>
              <a:t>Check for </a:t>
            </a:r>
            <a:r>
              <a:rPr lang="en-GB">
                <a:solidFill>
                  <a:srgbClr val="FFC000"/>
                </a:solidFill>
                <a:cs typeface="Arial"/>
              </a:rPr>
              <a:t>Validity</a:t>
            </a:r>
          </a:p>
          <a:p>
            <a:pPr marL="800100" lvl="1" indent="-342900">
              <a:buAutoNum type="arabicPeriod"/>
            </a:pPr>
            <a:r>
              <a:rPr lang="en-GB">
                <a:cs typeface="Arial"/>
              </a:rPr>
              <a:t>Do the transaction/</a:t>
            </a:r>
            <a:r>
              <a:rPr lang="en-GB">
                <a:solidFill>
                  <a:srgbClr val="FFC000"/>
                </a:solidFill>
                <a:cs typeface="Arial"/>
              </a:rPr>
              <a:t>Interactions</a:t>
            </a:r>
          </a:p>
          <a:p>
            <a:pPr marL="800100" lvl="1" indent="-342900">
              <a:buAutoNum type="arabicPeriod"/>
            </a:pPr>
            <a:r>
              <a:rPr lang="en-GB">
                <a:cs typeface="Arial"/>
              </a:rPr>
              <a:t>Change the values/Make the </a:t>
            </a:r>
            <a:r>
              <a:rPr lang="en-GB">
                <a:solidFill>
                  <a:srgbClr val="FFC000"/>
                </a:solidFill>
                <a:cs typeface="Arial"/>
              </a:rPr>
              <a:t>Effects</a:t>
            </a:r>
          </a:p>
          <a:p>
            <a:pPr marL="349250" indent="-342900"/>
            <a:r>
              <a:rPr lang="en-GB">
                <a:cs typeface="Arial"/>
              </a:rPr>
              <a:t>So, to stop it the order needs to change to:</a:t>
            </a:r>
          </a:p>
          <a:p>
            <a:pPr marL="800100" lvl="1" indent="-342900">
              <a:buAutoNum type="arabicPeriod"/>
            </a:pPr>
            <a:r>
              <a:rPr lang="en-GB" dirty="0">
                <a:cs typeface="Arial"/>
              </a:rPr>
              <a:t>Check for </a:t>
            </a:r>
            <a:r>
              <a:rPr lang="en-GB">
                <a:solidFill>
                  <a:srgbClr val="FFC000"/>
                </a:solidFill>
                <a:cs typeface="Arial"/>
              </a:rPr>
              <a:t>Validity</a:t>
            </a:r>
            <a:endParaRPr lang="en-GB" dirty="0">
              <a:solidFill>
                <a:srgbClr val="FFC000"/>
              </a:solidFill>
              <a:cs typeface="Arial"/>
            </a:endParaRPr>
          </a:p>
          <a:p>
            <a:pPr marL="800100" lvl="1" indent="-342900">
              <a:buAutoNum type="arabicPeriod"/>
            </a:pPr>
            <a:r>
              <a:rPr lang="en-GB">
                <a:cs typeface="Arial"/>
              </a:rPr>
              <a:t>Make the</a:t>
            </a:r>
            <a:r>
              <a:rPr lang="en-GB" dirty="0">
                <a:cs typeface="Arial"/>
              </a:rPr>
              <a:t> </a:t>
            </a:r>
            <a:r>
              <a:rPr lang="en-GB" dirty="0">
                <a:solidFill>
                  <a:srgbClr val="FFC000"/>
                </a:solidFill>
                <a:cs typeface="Arial"/>
              </a:rPr>
              <a:t>Effects</a:t>
            </a:r>
            <a:r>
              <a:rPr lang="en-GB" dirty="0">
                <a:cs typeface="Arial"/>
              </a:rPr>
              <a:t>/change the values</a:t>
            </a:r>
          </a:p>
          <a:p>
            <a:pPr marL="800100" lvl="1" indent="-342900">
              <a:buAutoNum type="arabicPeriod"/>
            </a:pPr>
            <a:r>
              <a:rPr lang="en-GB" dirty="0">
                <a:cs typeface="Arial"/>
              </a:rPr>
              <a:t>Do </a:t>
            </a:r>
            <a:r>
              <a:rPr lang="en-GB">
                <a:cs typeface="Arial"/>
              </a:rPr>
              <a:t>the </a:t>
            </a:r>
            <a:r>
              <a:rPr lang="en-GB" dirty="0">
                <a:solidFill>
                  <a:srgbClr val="FFC000"/>
                </a:solidFill>
                <a:cs typeface="Arial"/>
              </a:rPr>
              <a:t>Interactions</a:t>
            </a:r>
            <a:r>
              <a:rPr lang="en-GB" dirty="0">
                <a:cs typeface="Arial"/>
              </a:rPr>
              <a:t>/Transaction</a:t>
            </a:r>
          </a:p>
        </p:txBody>
      </p:sp>
    </p:spTree>
    <p:extLst>
      <p:ext uri="{BB962C8B-B14F-4D97-AF65-F5344CB8AC3E}">
        <p14:creationId xmlns:p14="http://schemas.microsoft.com/office/powerpoint/2010/main" val="343387053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09CA4-F13A-9142-821F-5A539DB00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Vulnerable Fund</a:t>
            </a:r>
            <a:endParaRPr lang="en-GB"/>
          </a:p>
        </p:txBody>
      </p:sp>
      <p:pic>
        <p:nvPicPr>
          <p:cNvPr id="7" name="Content Placeholder 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6693D100-BD4A-FD50-C886-E0F19F27CA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4492" y="1348174"/>
            <a:ext cx="8228125" cy="546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21811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572E7-45BB-9D69-150F-3D19E570F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Fund Thief</a:t>
            </a:r>
          </a:p>
        </p:txBody>
      </p:sp>
      <p:pic>
        <p:nvPicPr>
          <p:cNvPr id="4" name="Content Placeholder 3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1CFAAD74-14C5-529C-37AA-29A52967A1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4752" y="1348173"/>
            <a:ext cx="6854575" cy="539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91030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DBA13-5505-E64C-DB5A-A9B6C4CA4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Resistant Fund</a:t>
            </a:r>
            <a:endParaRPr lang="en-GB"/>
          </a:p>
        </p:txBody>
      </p:sp>
      <p:pic>
        <p:nvPicPr>
          <p:cNvPr id="4" name="Content Placeholder 3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2066E234-66B8-71BB-FD89-893FF0AFD1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9456" y="1348174"/>
            <a:ext cx="6657912" cy="534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51594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355AA-0306-E30E-E13D-D200398A55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err="1">
                <a:cs typeface="Arial"/>
              </a:rPr>
              <a:t>Reentrance</a:t>
            </a:r>
            <a:endParaRPr lang="en-GB" err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45FCA7-B886-8AC0-4273-CCBA4F417D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err="1">
                <a:cs typeface="Arial"/>
              </a:rPr>
              <a:t>PicoCTF</a:t>
            </a:r>
            <a:r>
              <a:rPr lang="en-GB">
                <a:cs typeface="Arial"/>
              </a:rPr>
              <a:t>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68701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F0D58-9A8D-52D3-06E5-5DB20DB3C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Smart Contract Storage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349F0-63C4-B708-CA0C-732F4D6D2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 dirty="0">
                <a:cs typeface="Arial"/>
              </a:rPr>
              <a:t>All </a:t>
            </a:r>
            <a:r>
              <a:rPr lang="en-GB">
                <a:cs typeface="Arial"/>
              </a:rPr>
              <a:t>persistent value in a smart contract are stored in the storage, which is on the blockchain and therefore globally readable</a:t>
            </a:r>
          </a:p>
          <a:p>
            <a:pPr marL="344170" indent="-337820"/>
            <a:r>
              <a:rPr lang="en-GB">
                <a:cs typeface="Arial"/>
              </a:rPr>
              <a:t>Even if they are '</a:t>
            </a:r>
            <a:r>
              <a:rPr lang="en-GB">
                <a:solidFill>
                  <a:srgbClr val="FFC000"/>
                </a:solidFill>
                <a:cs typeface="Arial"/>
              </a:rPr>
              <a:t>private</a:t>
            </a:r>
            <a:r>
              <a:rPr lang="en-GB">
                <a:cs typeface="Arial"/>
              </a:rPr>
              <a:t>'</a:t>
            </a:r>
          </a:p>
          <a:p>
            <a:pPr marL="344170" indent="-337820"/>
            <a:r>
              <a:rPr lang="en-GB">
                <a:cs typeface="Arial"/>
              </a:rPr>
              <a:t>If you remember, the storage is a </a:t>
            </a:r>
            <a:r>
              <a:rPr lang="en-GB">
                <a:solidFill>
                  <a:srgbClr val="FFC000"/>
                </a:solidFill>
                <a:cs typeface="Arial"/>
              </a:rPr>
              <a:t>uint256 </a:t>
            </a:r>
            <a:r>
              <a:rPr lang="en-GB">
                <a:cs typeface="Arial"/>
              </a:rPr>
              <a:t>long array of 'slots' of size 32 bytes</a:t>
            </a:r>
            <a:endParaRPr lang="en-GB" dirty="0">
              <a:cs typeface="Arial"/>
            </a:endParaRPr>
          </a:p>
          <a:p>
            <a:pPr marL="344170" indent="-337820"/>
            <a:r>
              <a:rPr lang="en-GB">
                <a:cs typeface="Arial"/>
              </a:rPr>
              <a:t>Each slot can be read arbitrarily, by default they contain '0'</a:t>
            </a:r>
            <a:endParaRPr lang="en-GB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8564556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99FA0-7090-EEAC-E1FA-1B85304A9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Variables -&gt; Slots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4E8FA-6F44-D3F1-5017-FB78D0624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43" y="4534059"/>
            <a:ext cx="8057796" cy="2321426"/>
          </a:xfrm>
        </p:spPr>
        <p:txBody>
          <a:bodyPr>
            <a:normAutofit fontScale="85000" lnSpcReduction="20000"/>
          </a:bodyPr>
          <a:lstStyle/>
          <a:p>
            <a:pPr marL="344170" indent="-337820"/>
            <a:r>
              <a:rPr lang="en-GB">
                <a:cs typeface="Arial"/>
              </a:rPr>
              <a:t>The slots for storage are assigned, in the order the variables are read</a:t>
            </a:r>
            <a:endParaRPr lang="en-GB" dirty="0">
              <a:cs typeface="Arial"/>
            </a:endParaRPr>
          </a:p>
          <a:p>
            <a:pPr marL="344170" indent="-337820"/>
            <a:r>
              <a:rPr lang="en-GB">
                <a:cs typeface="Arial"/>
              </a:rPr>
              <a:t>So 'value' is slot '0'</a:t>
            </a:r>
            <a:endParaRPr lang="en-GB" dirty="0">
              <a:cs typeface="Arial"/>
            </a:endParaRPr>
          </a:p>
          <a:p>
            <a:pPr marL="344170" indent="-337820"/>
            <a:r>
              <a:rPr lang="en-GB">
                <a:cs typeface="Arial"/>
              </a:rPr>
              <a:t>'maybe' is slot '1'</a:t>
            </a:r>
          </a:p>
          <a:p>
            <a:pPr marL="344170" indent="-337820"/>
            <a:r>
              <a:rPr lang="en-GB">
                <a:cs typeface="Arial"/>
              </a:rPr>
              <a:t>'no' as an array of size three is slots '2', '3', and '4'</a:t>
            </a:r>
            <a:endParaRPr lang="en-GB" dirty="0">
              <a:cs typeface="Arial"/>
            </a:endParaRPr>
          </a:p>
          <a:p>
            <a:pPr marL="344170" indent="-337820"/>
            <a:r>
              <a:rPr lang="en-GB" dirty="0">
                <a:cs typeface="Arial"/>
              </a:rPr>
              <a:t>'secret' </a:t>
            </a:r>
            <a:r>
              <a:rPr lang="en-GB">
                <a:cs typeface="Arial"/>
              </a:rPr>
              <a:t>stores its length in slot '6', then each character are stored in the slots starting from the hash of '6'</a:t>
            </a:r>
          </a:p>
          <a:p>
            <a:pPr marL="344170" indent="-337820"/>
            <a:endParaRPr lang="en-GB" dirty="0">
              <a:cs typeface="Arial"/>
            </a:endParaRPr>
          </a:p>
        </p:txBody>
      </p:sp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6729587-46B9-419D-61F3-C50997AD5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996" y="1349603"/>
            <a:ext cx="7786008" cy="311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85218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ED09A-DA03-D755-DBEC-F9423B517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0000"/>
                </a:solidFill>
                <a:cs typeface="Arial"/>
              </a:rPr>
              <a:t>cast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73BD2-BF9D-A216-2D93-09B47A242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>
                <a:cs typeface="Arial"/>
              </a:rPr>
              <a:t>The storage can be read using '</a:t>
            </a:r>
            <a:r>
              <a:rPr lang="en-GB">
                <a:solidFill>
                  <a:srgbClr val="FF0000"/>
                </a:solidFill>
                <a:cs typeface="Arial"/>
              </a:rPr>
              <a:t>foundry</a:t>
            </a:r>
            <a:r>
              <a:rPr lang="en-GB">
                <a:cs typeface="Arial"/>
              </a:rPr>
              <a:t>' with:</a:t>
            </a:r>
          </a:p>
          <a:p>
            <a:pPr marL="344170" indent="-337820"/>
            <a:r>
              <a:rPr lang="en-GB">
                <a:solidFill>
                  <a:srgbClr val="FF0000"/>
                </a:solidFill>
                <a:cs typeface="Arial"/>
              </a:rPr>
              <a:t>cast storage &lt;ADDR&gt; &lt;</a:t>
            </a:r>
            <a:r>
              <a:rPr lang="en-GB" err="1">
                <a:solidFill>
                  <a:srgbClr val="FF0000"/>
                </a:solidFill>
                <a:cs typeface="Arial"/>
              </a:rPr>
              <a:t>Slot_Num</a:t>
            </a:r>
            <a:r>
              <a:rPr lang="en-GB">
                <a:solidFill>
                  <a:srgbClr val="FF0000"/>
                </a:solidFill>
                <a:cs typeface="Arial"/>
              </a:rPr>
              <a:t>&gt; --</a:t>
            </a:r>
            <a:r>
              <a:rPr lang="en-GB" err="1">
                <a:solidFill>
                  <a:srgbClr val="FF0000"/>
                </a:solidFill>
                <a:cs typeface="Arial"/>
              </a:rPr>
              <a:t>rpc-url</a:t>
            </a:r>
            <a:r>
              <a:rPr lang="en-GB">
                <a:solidFill>
                  <a:srgbClr val="FF0000"/>
                </a:solidFill>
                <a:cs typeface="Arial"/>
              </a:rPr>
              <a:t> &lt;URL&gt;</a:t>
            </a:r>
          </a:p>
        </p:txBody>
      </p:sp>
    </p:spTree>
    <p:extLst>
      <p:ext uri="{BB962C8B-B14F-4D97-AF65-F5344CB8AC3E}">
        <p14:creationId xmlns:p14="http://schemas.microsoft.com/office/powerpoint/2010/main" val="91694428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B2583-F9B0-89E1-46C0-B0DFCCBEE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Verifying Smart Contracts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34A2F-62E0-191C-DE58-BCFDE652B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>
                <a:cs typeface="Arial"/>
              </a:rPr>
              <a:t>When looking at a smart contract, all you get is an address and the trust that whatever code someone gave you is indeed the code behind that address</a:t>
            </a:r>
          </a:p>
          <a:p>
            <a:pPr marL="344170" indent="-337820"/>
            <a:r>
              <a:rPr lang="en-GB" dirty="0">
                <a:cs typeface="Arial"/>
              </a:rPr>
              <a:t>This trust is not needed, as the compiled code can be attained from the </a:t>
            </a:r>
            <a:r>
              <a:rPr lang="en-GB">
                <a:cs typeface="Arial"/>
              </a:rPr>
              <a:t>blockchain</a:t>
            </a:r>
            <a:endParaRPr lang="en-GB" dirty="0">
              <a:cs typeface="Arial"/>
            </a:endParaRPr>
          </a:p>
          <a:p>
            <a:pPr marL="344170" indent="-337820"/>
            <a:r>
              <a:rPr lang="en-GB">
                <a:cs typeface="Arial"/>
              </a:rPr>
              <a:t>Then by compiling the supposed code, with the same build instructions &amp; compiler version, the same compiled code should be outputed</a:t>
            </a:r>
            <a:endParaRPr lang="en-GB" dirty="0" err="1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1087783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BB5E4-C293-324E-C4BA-1BF5B828E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0000"/>
                </a:solidFill>
                <a:cs typeface="Arial"/>
              </a:rPr>
              <a:t>cast code</a:t>
            </a:r>
            <a:endParaRPr lang="en-GB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61FF-9DC4-ED38-EF91-F0EEC10C3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>
                <a:cs typeface="Arial"/>
              </a:rPr>
              <a:t>foundry lets you get the compiled code with '</a:t>
            </a:r>
            <a:r>
              <a:rPr lang="en-GB">
                <a:solidFill>
                  <a:srgbClr val="FF0000"/>
                </a:solidFill>
                <a:cs typeface="Arial"/>
              </a:rPr>
              <a:t>cast code</a:t>
            </a:r>
            <a:r>
              <a:rPr lang="en-GB">
                <a:cs typeface="Arial"/>
              </a:rPr>
              <a:t>'</a:t>
            </a:r>
          </a:p>
          <a:p>
            <a:pPr marL="344170" indent="-337820"/>
            <a:r>
              <a:rPr lang="en-GB">
                <a:cs typeface="Arial"/>
              </a:rPr>
              <a:t>The syntax is:</a:t>
            </a:r>
          </a:p>
          <a:p>
            <a:pPr marL="344170" indent="-337820"/>
            <a:r>
              <a:rPr lang="en-GB" dirty="0">
                <a:solidFill>
                  <a:srgbClr val="FF0000"/>
                </a:solidFill>
                <a:cs typeface="Arial"/>
              </a:rPr>
              <a:t>cast code &lt;ADDR&gt; --</a:t>
            </a:r>
            <a:r>
              <a:rPr lang="en-GB" dirty="0" err="1">
                <a:solidFill>
                  <a:srgbClr val="FF0000"/>
                </a:solidFill>
                <a:cs typeface="Arial"/>
              </a:rPr>
              <a:t>rpc-url</a:t>
            </a:r>
            <a:r>
              <a:rPr lang="en-GB" dirty="0">
                <a:solidFill>
                  <a:srgbClr val="FF0000"/>
                </a:solidFill>
                <a:cs typeface="Arial"/>
              </a:rPr>
              <a:t> &lt;URL&gt;</a:t>
            </a:r>
          </a:p>
        </p:txBody>
      </p:sp>
    </p:spTree>
    <p:extLst>
      <p:ext uri="{BB962C8B-B14F-4D97-AF65-F5344CB8AC3E}">
        <p14:creationId xmlns:p14="http://schemas.microsoft.com/office/powerpoint/2010/main" val="52424365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4DEF6-F306-AD72-333D-F1EC4CD8A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Arial"/>
              </a:rPr>
              <a:t>Online </a:t>
            </a:r>
            <a:r>
              <a:rPr lang="en-GB" dirty="0" err="1">
                <a:cs typeface="Arial"/>
              </a:rPr>
              <a:t>Decompilers</a:t>
            </a:r>
            <a:endParaRPr lang="en-GB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E030E-9255-97CD-E5B4-C967EC117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 dirty="0">
                <a:cs typeface="Arial"/>
              </a:rPr>
              <a:t>This compiled code can then be </a:t>
            </a:r>
            <a:r>
              <a:rPr lang="en-GB" dirty="0">
                <a:ea typeface="+mn-lt"/>
                <a:cs typeface="+mn-lt"/>
              </a:rPr>
              <a:t>disassembled</a:t>
            </a:r>
            <a:r>
              <a:rPr lang="en-GB" dirty="0">
                <a:cs typeface="Arial"/>
              </a:rPr>
              <a:t>/decompiled using an online disassembler/</a:t>
            </a:r>
            <a:r>
              <a:rPr lang="en-GB" dirty="0" err="1">
                <a:cs typeface="Arial"/>
              </a:rPr>
              <a:t>decompiler</a:t>
            </a:r>
            <a:r>
              <a:rPr lang="en-GB" dirty="0">
                <a:cs typeface="Arial"/>
              </a:rPr>
              <a:t> to see what has changed, or reverse engineer a non-open-source smart contract</a:t>
            </a:r>
            <a:endParaRPr lang="en-US" dirty="0"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56197744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67C36-B4DF-5B32-0A1E-555068F271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The End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B74883-A432-21D5-C68E-E008D3F71D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718998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C3D0D-1FD1-C035-7A66-A8002B738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Learning More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318C6-8910-A081-89E9-52E4FC810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GB">
                <a:cs typeface="Arial"/>
              </a:rPr>
              <a:t>If you want to learn more, I suggest either reading the solidity docs: </a:t>
            </a:r>
            <a:r>
              <a:rPr lang="en-GB" dirty="0">
                <a:ea typeface="+mn-lt"/>
                <a:cs typeface="+mn-lt"/>
                <a:hlinkClick r:id="rId2"/>
              </a:rPr>
              <a:t>https://docs.soliditylang.org/en/v0.8.35/</a:t>
            </a:r>
            <a:endParaRPr lang="en-GB">
              <a:ea typeface="+mn-lt"/>
              <a:cs typeface="+mn-lt"/>
            </a:endParaRPr>
          </a:p>
          <a:p>
            <a:pPr marL="344170" indent="-337820"/>
            <a:r>
              <a:rPr lang="en-GB" dirty="0">
                <a:ea typeface="+mn-lt"/>
                <a:cs typeface="+mn-lt"/>
              </a:rPr>
              <a:t>This guy's </a:t>
            </a:r>
            <a:r>
              <a:rPr lang="en-GB">
                <a:ea typeface="+mn-lt"/>
                <a:cs typeface="+mn-lt"/>
              </a:rPr>
              <a:t>abandoned</a:t>
            </a:r>
            <a:r>
              <a:rPr lang="en-GB" dirty="0">
                <a:ea typeface="+mn-lt"/>
                <a:cs typeface="+mn-lt"/>
              </a:rPr>
              <a:t> 8-year-old blog, which while it does contain some deprecated stuff, is very good at introducing you to concepts: </a:t>
            </a:r>
            <a:r>
              <a:rPr lang="en-GB" dirty="0">
                <a:ea typeface="+mn-lt"/>
                <a:cs typeface="+mn-lt"/>
                <a:hlinkClick r:id="rId3"/>
              </a:rPr>
              <a:t>https://programtheblockchain.com/</a:t>
            </a:r>
            <a:endParaRPr lang="en-GB" dirty="0">
              <a:ea typeface="+mn-lt"/>
              <a:cs typeface="+mn-lt"/>
            </a:endParaRPr>
          </a:p>
          <a:p>
            <a:pPr marL="344170" indent="-337820"/>
            <a:r>
              <a:rPr lang="en-GB">
                <a:ea typeface="+mn-lt"/>
                <a:cs typeface="+mn-lt"/>
              </a:rPr>
              <a:t>Try some levels of The Ethernaught, which is a small blockchain CTF training thing that assumes you have some knowledge: </a:t>
            </a:r>
            <a:r>
              <a:rPr lang="en-GB" dirty="0">
                <a:ea typeface="+mn-lt"/>
                <a:cs typeface="+mn-lt"/>
                <a:hlinkClick r:id="rId4"/>
              </a:rPr>
              <a:t>https://ethernaut.openzeppelin.com/</a:t>
            </a:r>
          </a:p>
        </p:txBody>
      </p:sp>
    </p:spTree>
    <p:extLst>
      <p:ext uri="{BB962C8B-B14F-4D97-AF65-F5344CB8AC3E}">
        <p14:creationId xmlns:p14="http://schemas.microsoft.com/office/powerpoint/2010/main" val="20917524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2D251F"/>
      </a:dk2>
      <a:lt2>
        <a:srgbClr val="FAE9C5"/>
      </a:lt2>
      <a:accent1>
        <a:srgbClr val="ED3846"/>
      </a:accent1>
      <a:accent2>
        <a:srgbClr val="F87184"/>
      </a:accent2>
      <a:accent3>
        <a:srgbClr val="EC9DA9"/>
      </a:accent3>
      <a:accent4>
        <a:srgbClr val="ECC190"/>
      </a:accent4>
      <a:accent5>
        <a:srgbClr val="FFB268"/>
      </a:accent5>
      <a:accent6>
        <a:srgbClr val="F98657"/>
      </a:accent6>
      <a:hlink>
        <a:srgbClr val="B97669"/>
      </a:hlink>
      <a:folHlink>
        <a:srgbClr val="9E94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BCCF8060-3FCB-4641-B728-8A589529B13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3" baseType="lpstr">
      <vt:lpstr>Madison</vt:lpstr>
      <vt:lpstr>GitHub Link</vt:lpstr>
      <vt:lpstr>Blockchain CTF Basics</vt:lpstr>
      <vt:lpstr>Blockchain Basics</vt:lpstr>
      <vt:lpstr>Transactions</vt:lpstr>
      <vt:lpstr>Blocks</vt:lpstr>
      <vt:lpstr>Block Contents</vt:lpstr>
      <vt:lpstr>Miners vs Stakers</vt:lpstr>
      <vt:lpstr>Ethereum Virtual Machine (EVM)</vt:lpstr>
      <vt:lpstr>Ether and Wei</vt:lpstr>
      <vt:lpstr>Accounts</vt:lpstr>
      <vt:lpstr>Transactions</vt:lpstr>
      <vt:lpstr>Gas</vt:lpstr>
      <vt:lpstr>Break</vt:lpstr>
      <vt:lpstr>Smart Contracts</vt:lpstr>
      <vt:lpstr>What are Smart Contracts?</vt:lpstr>
      <vt:lpstr>Solidity</vt:lpstr>
      <vt:lpstr>Trivial</vt:lpstr>
      <vt:lpstr>view and pure</vt:lpstr>
      <vt:lpstr>Trivial with State</vt:lpstr>
      <vt:lpstr>Trivial with Constructed State</vt:lpstr>
      <vt:lpstr>Counter</vt:lpstr>
      <vt:lpstr>Set</vt:lpstr>
      <vt:lpstr>Foundry</vt:lpstr>
      <vt:lpstr>Install</vt:lpstr>
      <vt:lpstr>RPC</vt:lpstr>
      <vt:lpstr>cast call</vt:lpstr>
      <vt:lpstr>cast send</vt:lpstr>
      <vt:lpstr>cast send with arguments</vt:lpstr>
      <vt:lpstr>Break</vt:lpstr>
      <vt:lpstr>cast balance</vt:lpstr>
      <vt:lpstr>Contracts viewing account's balance</vt:lpstr>
      <vt:lpstr>Community Chest</vt:lpstr>
      <vt:lpstr>payable</vt:lpstr>
      <vt:lpstr>Community Chest v2</vt:lpstr>
      <vt:lpstr>cast send with ether</vt:lpstr>
      <vt:lpstr>require</vt:lpstr>
      <vt:lpstr>msg.value</vt:lpstr>
      <vt:lpstr>Community Chest v3</vt:lpstr>
      <vt:lpstr>Community Chest v4</vt:lpstr>
      <vt:lpstr>Deploying Locally</vt:lpstr>
      <vt:lpstr>anvil</vt:lpstr>
      <vt:lpstr>-a --balance -m</vt:lpstr>
      <vt:lpstr>forge create</vt:lpstr>
      <vt:lpstr>Default RPC</vt:lpstr>
      <vt:lpstr>Break</vt:lpstr>
      <vt:lpstr>msg.sender</vt:lpstr>
      <vt:lpstr>Sending Money</vt:lpstr>
      <vt:lpstr>Community Chest v5</vt:lpstr>
      <vt:lpstr>event and emit</vt:lpstr>
      <vt:lpstr>Community Chest v6</vt:lpstr>
      <vt:lpstr>indexed event</vt:lpstr>
      <vt:lpstr>Community Chest v7</vt:lpstr>
      <vt:lpstr>receive and fallback</vt:lpstr>
      <vt:lpstr>receive</vt:lpstr>
      <vt:lpstr>Community Chest v8</vt:lpstr>
      <vt:lpstr>fallback</vt:lpstr>
      <vt:lpstr>Community Chest v9</vt:lpstr>
      <vt:lpstr>Owner</vt:lpstr>
      <vt:lpstr>Donation Chest</vt:lpstr>
      <vt:lpstr>Break</vt:lpstr>
      <vt:lpstr>mapping</vt:lpstr>
      <vt:lpstr>MultiCounter</vt:lpstr>
      <vt:lpstr>fixed-size array and dynamic array</vt:lpstr>
      <vt:lpstr>MultiCounter v2.0</vt:lpstr>
      <vt:lpstr>Variable Visibility</vt:lpstr>
      <vt:lpstr>Public Counter</vt:lpstr>
      <vt:lpstr>Variable Modifiers</vt:lpstr>
      <vt:lpstr>--gas-limit</vt:lpstr>
      <vt:lpstr>Pico CTF Warning</vt:lpstr>
      <vt:lpstr>Access Control</vt:lpstr>
      <vt:lpstr>Custom Modifiers</vt:lpstr>
      <vt:lpstr>Modified Set</vt:lpstr>
      <vt:lpstr>checked vs unchecked</vt:lpstr>
      <vt:lpstr>IntOverflowBank</vt:lpstr>
      <vt:lpstr>interface</vt:lpstr>
      <vt:lpstr>call functions of an interface</vt:lpstr>
      <vt:lpstr>Donation chest Skimmer</vt:lpstr>
      <vt:lpstr>Chains of Power</vt:lpstr>
      <vt:lpstr>Reentrancy</vt:lpstr>
      <vt:lpstr>Check-Effects-Interactions Pattern</vt:lpstr>
      <vt:lpstr>Vulnerable Fund</vt:lpstr>
      <vt:lpstr>Fund Thief</vt:lpstr>
      <vt:lpstr>Resistant Fund</vt:lpstr>
      <vt:lpstr>Reentrance</vt:lpstr>
      <vt:lpstr>Smart Contract Storage</vt:lpstr>
      <vt:lpstr>Variables -&gt; Slots</vt:lpstr>
      <vt:lpstr>cast storage</vt:lpstr>
      <vt:lpstr>Verifying Smart Contracts</vt:lpstr>
      <vt:lpstr>cast code</vt:lpstr>
      <vt:lpstr>Online Decompilers</vt:lpstr>
      <vt:lpstr>The End</vt:lpstr>
      <vt:lpstr>Learning More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1165</cp:revision>
  <dcterms:created xsi:type="dcterms:W3CDTF">2026-06-25T15:14:46Z</dcterms:created>
  <dcterms:modified xsi:type="dcterms:W3CDTF">2026-06-29T05:59:22Z</dcterms:modified>
</cp:coreProperties>
</file>